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2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10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10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11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90.png"/><Relationship Id="rId3" Type="http://schemas.openxmlformats.org/officeDocument/2006/relationships/image" Target="../media/image10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11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10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11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03.png"/><Relationship Id="rId18" Type="http://schemas.openxmlformats.org/officeDocument/2006/relationships/image" Target="../media/image119.png"/><Relationship Id="rId3" Type="http://schemas.openxmlformats.org/officeDocument/2006/relationships/image" Target="../media/image10.png"/><Relationship Id="rId21" Type="http://schemas.openxmlformats.org/officeDocument/2006/relationships/image" Target="../media/image122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24" Type="http://schemas.openxmlformats.org/officeDocument/2006/relationships/image" Target="../media/image125.png"/><Relationship Id="rId5" Type="http://schemas.openxmlformats.org/officeDocument/2006/relationships/image" Target="../media/image107.png"/><Relationship Id="rId15" Type="http://schemas.openxmlformats.org/officeDocument/2006/relationships/image" Target="../media/image116.png"/><Relationship Id="rId23" Type="http://schemas.openxmlformats.org/officeDocument/2006/relationships/image" Target="../media/image124.png"/><Relationship Id="rId10" Type="http://schemas.openxmlformats.org/officeDocument/2006/relationships/image" Target="../media/image112.png"/><Relationship Id="rId19" Type="http://schemas.openxmlformats.org/officeDocument/2006/relationships/image" Target="../media/image120.png"/><Relationship Id="rId4" Type="http://schemas.openxmlformats.org/officeDocument/2006/relationships/image" Target="../media/image11.png"/><Relationship Id="rId9" Type="http://schemas.openxmlformats.org/officeDocument/2006/relationships/image" Target="../media/image111.png"/><Relationship Id="rId14" Type="http://schemas.openxmlformats.org/officeDocument/2006/relationships/image" Target="../media/image115.png"/><Relationship Id="rId22" Type="http://schemas.openxmlformats.org/officeDocument/2006/relationships/image" Target="../media/image1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image" Target="../media/image117.png"/><Relationship Id="rId3" Type="http://schemas.openxmlformats.org/officeDocument/2006/relationships/image" Target="../media/image10.png"/><Relationship Id="rId7" Type="http://schemas.openxmlformats.org/officeDocument/2006/relationships/image" Target="../media/image128.pn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0" Type="http://schemas.openxmlformats.org/officeDocument/2006/relationships/image" Target="../media/image131.png"/><Relationship Id="rId4" Type="http://schemas.openxmlformats.org/officeDocument/2006/relationships/image" Target="../media/image11.png"/><Relationship Id="rId9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6.png"/><Relationship Id="rId26" Type="http://schemas.openxmlformats.org/officeDocument/2006/relationships/image" Target="../media/image153.png"/><Relationship Id="rId3" Type="http://schemas.openxmlformats.org/officeDocument/2006/relationships/image" Target="../media/image10.png"/><Relationship Id="rId21" Type="http://schemas.openxmlformats.org/officeDocument/2006/relationships/image" Target="../media/image149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5.png"/><Relationship Id="rId25" Type="http://schemas.openxmlformats.org/officeDocument/2006/relationships/image" Target="../media/image15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1.png"/><Relationship Id="rId5" Type="http://schemas.openxmlformats.org/officeDocument/2006/relationships/image" Target="../media/image134.png"/><Relationship Id="rId15" Type="http://schemas.openxmlformats.org/officeDocument/2006/relationships/image" Target="../media/image14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10" Type="http://schemas.openxmlformats.org/officeDocument/2006/relationships/image" Target="../media/image139.png"/><Relationship Id="rId19" Type="http://schemas.openxmlformats.org/officeDocument/2006/relationships/image" Target="../media/image147.png"/><Relationship Id="rId4" Type="http://schemas.openxmlformats.org/officeDocument/2006/relationships/image" Target="../media/image11.png"/><Relationship Id="rId9" Type="http://schemas.openxmlformats.org/officeDocument/2006/relationships/image" Target="../media/image138.png"/><Relationship Id="rId14" Type="http://schemas.openxmlformats.org/officeDocument/2006/relationships/image" Target="../media/image113.png"/><Relationship Id="rId22" Type="http://schemas.openxmlformats.org/officeDocument/2006/relationships/image" Target="../media/image72.png"/><Relationship Id="rId27" Type="http://schemas.openxmlformats.org/officeDocument/2006/relationships/image" Target="../media/image1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62.png"/><Relationship Id="rId3" Type="http://schemas.openxmlformats.org/officeDocument/2006/relationships/image" Target="../media/image156.png"/><Relationship Id="rId7" Type="http://schemas.openxmlformats.org/officeDocument/2006/relationships/image" Target="../media/image109.png"/><Relationship Id="rId12" Type="http://schemas.openxmlformats.org/officeDocument/2006/relationships/image" Target="../media/image161.png"/><Relationship Id="rId17" Type="http://schemas.openxmlformats.org/officeDocument/2006/relationships/image" Target="../media/image16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0.png"/><Relationship Id="rId5" Type="http://schemas.openxmlformats.org/officeDocument/2006/relationships/image" Target="../media/image157.png"/><Relationship Id="rId15" Type="http://schemas.openxmlformats.org/officeDocument/2006/relationships/image" Target="../media/image163.png"/><Relationship Id="rId10" Type="http://schemas.openxmlformats.org/officeDocument/2006/relationships/image" Target="../media/image106.png"/><Relationship Id="rId4" Type="http://schemas.openxmlformats.org/officeDocument/2006/relationships/image" Target="../media/image11.png"/><Relationship Id="rId9" Type="http://schemas.openxmlformats.org/officeDocument/2006/relationships/image" Target="../media/image159.png"/><Relationship Id="rId1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0800" y="76200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876800"/>
            <a:ext cx="1219200" cy="1219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4718" y="1905000"/>
            <a:ext cx="7662565" cy="3048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2719" y="3695700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083" y="3695700"/>
            <a:ext cx="3429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9189" y="3695700"/>
            <a:ext cx="428625" cy="3810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192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01001001</a:t>
            </a:r>
            <a:endParaRPr lang="en-US" sz="1050" dirty="0"/>
          </a:p>
        </p:txBody>
      </p:sp>
      <p:sp>
        <p:nvSpPr>
          <p:cNvPr id="13" name="Text 1"/>
          <p:cNvSpPr/>
          <p:nvPr/>
        </p:nvSpPr>
        <p:spPr>
          <a:xfrm>
            <a:off x="24384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10100110</a:t>
            </a:r>
            <a:endParaRPr lang="en-US" sz="1050" dirty="0"/>
          </a:p>
        </p:txBody>
      </p:sp>
      <p:sp>
        <p:nvSpPr>
          <p:cNvPr id="14" name="Text 2"/>
          <p:cNvSpPr/>
          <p:nvPr/>
        </p:nvSpPr>
        <p:spPr>
          <a:xfrm>
            <a:off x="36576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01101001</a:t>
            </a:r>
            <a:endParaRPr lang="en-US" sz="1050" dirty="0"/>
          </a:p>
        </p:txBody>
      </p:sp>
      <p:sp>
        <p:nvSpPr>
          <p:cNvPr id="15" name="Text 3"/>
          <p:cNvSpPr/>
          <p:nvPr/>
        </p:nvSpPr>
        <p:spPr>
          <a:xfrm>
            <a:off x="48768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10010100</a:t>
            </a:r>
            <a:endParaRPr lang="en-US" sz="1050" dirty="0"/>
          </a:p>
        </p:txBody>
      </p:sp>
      <p:sp>
        <p:nvSpPr>
          <p:cNvPr id="16" name="Text 4"/>
          <p:cNvSpPr/>
          <p:nvPr/>
        </p:nvSpPr>
        <p:spPr>
          <a:xfrm>
            <a:off x="60960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01011001</a:t>
            </a:r>
            <a:endParaRPr lang="en-US" sz="1050" dirty="0"/>
          </a:p>
        </p:txBody>
      </p:sp>
      <p:sp>
        <p:nvSpPr>
          <p:cNvPr id="17" name="Text 5"/>
          <p:cNvSpPr/>
          <p:nvPr/>
        </p:nvSpPr>
        <p:spPr>
          <a:xfrm>
            <a:off x="73152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10100101</a:t>
            </a:r>
            <a:endParaRPr lang="en-US" sz="1050" dirty="0"/>
          </a:p>
        </p:txBody>
      </p:sp>
      <p:sp>
        <p:nvSpPr>
          <p:cNvPr id="18" name="Text 6"/>
          <p:cNvSpPr/>
          <p:nvPr/>
        </p:nvSpPr>
        <p:spPr>
          <a:xfrm>
            <a:off x="85344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01100101</a:t>
            </a:r>
            <a:endParaRPr lang="en-US" sz="1050" dirty="0"/>
          </a:p>
        </p:txBody>
      </p:sp>
      <p:sp>
        <p:nvSpPr>
          <p:cNvPr id="19" name="Text 7"/>
          <p:cNvSpPr/>
          <p:nvPr/>
        </p:nvSpPr>
        <p:spPr>
          <a:xfrm>
            <a:off x="97536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10011010</a:t>
            </a:r>
            <a:endParaRPr lang="en-US" sz="1050" dirty="0"/>
          </a:p>
        </p:txBody>
      </p:sp>
      <p:sp>
        <p:nvSpPr>
          <p:cNvPr id="20" name="Text 8"/>
          <p:cNvSpPr/>
          <p:nvPr/>
        </p:nvSpPr>
        <p:spPr>
          <a:xfrm>
            <a:off x="10972800" y="3328988"/>
            <a:ext cx="770811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A5C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01010011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2229981" y="2286000"/>
            <a:ext cx="773203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for Cybersecurity</a:t>
            </a:r>
            <a:endParaRPr lang="en-US" sz="4500" dirty="0"/>
          </a:p>
        </p:txBody>
      </p:sp>
      <p:sp>
        <p:nvSpPr>
          <p:cNvPr id="22" name="Text 10"/>
          <p:cNvSpPr/>
          <p:nvPr/>
        </p:nvSpPr>
        <p:spPr>
          <a:xfrm>
            <a:off x="2229981" y="3086100"/>
            <a:ext cx="773203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Enhancing Defensive Capabilities in the Digital Age</a:t>
            </a:r>
            <a:endParaRPr lang="en-US" sz="1800" dirty="0"/>
          </a:p>
        </p:txBody>
      </p:sp>
      <p:sp>
        <p:nvSpPr>
          <p:cNvPr id="23" name="Text 11"/>
          <p:cNvSpPr/>
          <p:nvPr/>
        </p:nvSpPr>
        <p:spPr>
          <a:xfrm>
            <a:off x="3691920" y="4152900"/>
            <a:ext cx="179022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Intelligent Automation</a:t>
            </a:r>
            <a:endParaRPr lang="en-US" sz="1050" dirty="0"/>
          </a:p>
        </p:txBody>
      </p:sp>
      <p:sp>
        <p:nvSpPr>
          <p:cNvPr id="24" name="Text 12"/>
          <p:cNvSpPr/>
          <p:nvPr/>
        </p:nvSpPr>
        <p:spPr>
          <a:xfrm>
            <a:off x="5830148" y="4152900"/>
            <a:ext cx="13489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Threat Detection</a:t>
            </a:r>
            <a:endParaRPr lang="en-US" sz="1050" dirty="0"/>
          </a:p>
        </p:txBody>
      </p:sp>
      <p:sp>
        <p:nvSpPr>
          <p:cNvPr id="25" name="Text 13"/>
          <p:cNvSpPr/>
          <p:nvPr/>
        </p:nvSpPr>
        <p:spPr>
          <a:xfrm>
            <a:off x="7608793" y="4152900"/>
            <a:ext cx="8095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Protection</a:t>
            </a:r>
            <a:endParaRPr lang="en-US" sz="1050" dirty="0"/>
          </a:p>
        </p:txBody>
      </p:sp>
      <p:sp>
        <p:nvSpPr>
          <p:cNvPr id="26" name="Text 14"/>
          <p:cNvSpPr/>
          <p:nvPr/>
        </p:nvSpPr>
        <p:spPr>
          <a:xfrm>
            <a:off x="10568136" y="6438900"/>
            <a:ext cx="14914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December 2,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95400"/>
            <a:ext cx="5562600" cy="1028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524000"/>
            <a:ext cx="333077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639" y="16573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295400"/>
            <a:ext cx="556260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524000"/>
            <a:ext cx="479227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1826" y="165735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628900"/>
            <a:ext cx="556260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857500"/>
            <a:ext cx="341709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955" y="29908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628900"/>
            <a:ext cx="55626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857500"/>
            <a:ext cx="462111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8906" y="299085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3962400"/>
            <a:ext cx="55626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191000"/>
            <a:ext cx="332482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6766" y="432435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962400"/>
            <a:ext cx="5562600" cy="1028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191000"/>
            <a:ext cx="375047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5448" y="4324350"/>
            <a:ext cx="28575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190500"/>
            <a:ext cx="6467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Module Learning Objectives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018877" y="1447800"/>
            <a:ext cx="47723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 AI's Role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018877" y="1714500"/>
            <a:ext cx="477232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AI strengthens modern cybersecurity programs across network, cloud, endpoint, and identity domains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7032427" y="1447800"/>
            <a:ext cx="555140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AI Deployment Areas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7032427" y="1714500"/>
            <a:ext cx="462617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Where AI is deployed across defensive workflows and security platforms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027509" y="2781300"/>
            <a:ext cx="57164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Recognize AI Tools &amp; Platforms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1027509" y="3048000"/>
            <a:ext cx="476369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security tools and platforms incorporate AI capabilities and how they appear in analyst workflows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7015311" y="2781300"/>
            <a:ext cx="46432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Assess AI Automation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7015311" y="3048000"/>
            <a:ext cx="464328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tasks AI can automate, augment, or accelerate in security operations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1018282" y="4114800"/>
            <a:ext cx="47729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Collaborate with AI</a:t>
            </a:r>
            <a:endParaRPr lang="en-US" sz="1500" dirty="0"/>
          </a:p>
        </p:txBody>
      </p:sp>
      <p:sp>
        <p:nvSpPr>
          <p:cNvPr id="32" name="Text 10"/>
          <p:cNvSpPr/>
          <p:nvPr/>
        </p:nvSpPr>
        <p:spPr>
          <a:xfrm>
            <a:off x="1018282" y="4381500"/>
            <a:ext cx="477291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cybersecurity analysts can partner with AI to make networks safer, responses faster, and risks smaller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6928247" y="4114800"/>
            <a:ext cx="567642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Master Agentic AI Applications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6928247" y="4381500"/>
            <a:ext cx="473035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agentic AI supports Blue Team exercises, proactive TTP simulation, and hands-on training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6002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019300"/>
            <a:ext cx="4541490" cy="647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2152650"/>
            <a:ext cx="28575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257425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819400"/>
            <a:ext cx="454149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95275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0575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619500"/>
            <a:ext cx="4541490" cy="647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375285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8576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4419600"/>
            <a:ext cx="454149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4552950"/>
            <a:ext cx="28575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657725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05351" y="2971800"/>
            <a:ext cx="381000" cy="38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1076" y="3162300"/>
            <a:ext cx="2095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05351" y="3619500"/>
            <a:ext cx="381000" cy="38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45561" y="1600200"/>
            <a:ext cx="28575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5561" y="2019300"/>
            <a:ext cx="4541490" cy="647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59861" y="2152650"/>
            <a:ext cx="28575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36061" y="2257425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5561" y="2819400"/>
            <a:ext cx="4541490" cy="647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59861" y="2952750"/>
            <a:ext cx="3048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36061" y="305752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5561" y="3619500"/>
            <a:ext cx="4541490" cy="647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59861" y="3752850"/>
            <a:ext cx="3048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36061" y="3857625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5561" y="4419600"/>
            <a:ext cx="4541490" cy="647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59861" y="4552950"/>
            <a:ext cx="3048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36061" y="4657725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04800" y="5295900"/>
            <a:ext cx="11582400" cy="1104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7200" y="5486400"/>
            <a:ext cx="238125" cy="1905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457200" y="190500"/>
            <a:ext cx="746557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AI-Cybersecurity Landscape</a:t>
            </a:r>
            <a:endParaRPr lang="en-US" sz="2700" dirty="0"/>
          </a:p>
        </p:txBody>
      </p:sp>
      <p:sp>
        <p:nvSpPr>
          <p:cNvPr id="36" name="Text 1"/>
          <p:cNvSpPr/>
          <p:nvPr/>
        </p:nvSpPr>
        <p:spPr>
          <a:xfrm>
            <a:off x="-853440" y="1066800"/>
            <a:ext cx="1389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 cybersecurity challenges and how AI addresses them</a:t>
            </a:r>
            <a:endParaRPr lang="en-US" sz="1500" dirty="0"/>
          </a:p>
        </p:txBody>
      </p:sp>
      <p:sp>
        <p:nvSpPr>
          <p:cNvPr id="37" name="Text 2"/>
          <p:cNvSpPr/>
          <p:nvPr/>
        </p:nvSpPr>
        <p:spPr>
          <a:xfrm>
            <a:off x="609600" y="1562100"/>
            <a:ext cx="54497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Challenges</a:t>
            </a:r>
            <a:endParaRPr lang="en-US" sz="1800" dirty="0"/>
          </a:p>
        </p:txBody>
      </p:sp>
      <p:sp>
        <p:nvSpPr>
          <p:cNvPr id="38" name="Text 3"/>
          <p:cNvSpPr/>
          <p:nvPr/>
        </p:nvSpPr>
        <p:spPr>
          <a:xfrm>
            <a:off x="819150" y="2133600"/>
            <a:ext cx="36718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Massive Log Volumes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819150" y="2362200"/>
            <a:ext cx="44062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Organizations generate terabytes of security logs daily</a:t>
            </a:r>
            <a:endParaRPr lang="en-US" sz="1050" dirty="0"/>
          </a:p>
        </p:txBody>
      </p:sp>
      <p:sp>
        <p:nvSpPr>
          <p:cNvPr id="40" name="Text 5"/>
          <p:cNvSpPr/>
          <p:nvPr/>
        </p:nvSpPr>
        <p:spPr>
          <a:xfrm>
            <a:off x="838200" y="2933700"/>
            <a:ext cx="36948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838200" y="3162300"/>
            <a:ext cx="4433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24/7 monitoring required with limited human resources</a:t>
            </a:r>
            <a:endParaRPr lang="en-US" sz="1050" dirty="0"/>
          </a:p>
        </p:txBody>
      </p:sp>
      <p:sp>
        <p:nvSpPr>
          <p:cNvPr id="42" name="Text 7"/>
          <p:cNvSpPr/>
          <p:nvPr/>
        </p:nvSpPr>
        <p:spPr>
          <a:xfrm>
            <a:off x="838200" y="3733800"/>
            <a:ext cx="3520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Evolving Threats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838200" y="3962400"/>
            <a:ext cx="422445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Sophisticated adversaries with advanced techniques</a:t>
            </a:r>
            <a:endParaRPr lang="en-US" sz="1050" dirty="0"/>
          </a:p>
        </p:txBody>
      </p:sp>
      <p:sp>
        <p:nvSpPr>
          <p:cNvPr id="44" name="Text 9"/>
          <p:cNvSpPr/>
          <p:nvPr/>
        </p:nvSpPr>
        <p:spPr>
          <a:xfrm>
            <a:off x="819150" y="4533900"/>
            <a:ext cx="31003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Alert Overload</a:t>
            </a: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819150" y="4762500"/>
            <a:ext cx="37204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Analyst burnout from excessive false positives</a:t>
            </a:r>
            <a:endParaRPr lang="en-US" sz="1050" dirty="0"/>
          </a:p>
        </p:txBody>
      </p:sp>
      <p:sp>
        <p:nvSpPr>
          <p:cNvPr id="46" name="Text 11"/>
          <p:cNvSpPr/>
          <p:nvPr/>
        </p:nvSpPr>
        <p:spPr>
          <a:xfrm>
            <a:off x="7707511" y="1562100"/>
            <a:ext cx="45414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Solutions</a:t>
            </a:r>
            <a:endParaRPr lang="en-US" sz="1800" dirty="0"/>
          </a:p>
        </p:txBody>
      </p:sp>
      <p:sp>
        <p:nvSpPr>
          <p:cNvPr id="47" name="Text 12"/>
          <p:cNvSpPr/>
          <p:nvPr/>
        </p:nvSpPr>
        <p:spPr>
          <a:xfrm>
            <a:off x="7859911" y="2133600"/>
            <a:ext cx="43278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Millions of Events/Second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7859911" y="2362200"/>
            <a:ext cx="432786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analyzes vast amounts of security data in real-time</a:t>
            </a:r>
            <a:endParaRPr lang="en-US" sz="1050" dirty="0"/>
          </a:p>
        </p:txBody>
      </p:sp>
      <p:sp>
        <p:nvSpPr>
          <p:cNvPr id="49" name="Text 14"/>
          <p:cNvSpPr/>
          <p:nvPr/>
        </p:nvSpPr>
        <p:spPr>
          <a:xfrm>
            <a:off x="7878961" y="2933700"/>
            <a:ext cx="36962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Pattern Detection</a:t>
            </a: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7878961" y="3162300"/>
            <a:ext cx="443555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complex patterns invisible to human analysts</a:t>
            </a:r>
            <a:endParaRPr lang="en-US" sz="1050" dirty="0"/>
          </a:p>
        </p:txBody>
      </p:sp>
      <p:sp>
        <p:nvSpPr>
          <p:cNvPr id="51" name="Text 16"/>
          <p:cNvSpPr/>
          <p:nvPr/>
        </p:nvSpPr>
        <p:spPr>
          <a:xfrm>
            <a:off x="7878961" y="3733800"/>
            <a:ext cx="332496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Threat Prediction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7878961" y="3962400"/>
            <a:ext cx="398996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Predicts emerging threats before they materialize</a:t>
            </a:r>
            <a:endParaRPr lang="en-US" sz="1050" dirty="0"/>
          </a:p>
        </p:txBody>
      </p:sp>
      <p:sp>
        <p:nvSpPr>
          <p:cNvPr id="53" name="Text 18"/>
          <p:cNvSpPr/>
          <p:nvPr/>
        </p:nvSpPr>
        <p:spPr>
          <a:xfrm>
            <a:off x="7878961" y="4533900"/>
            <a:ext cx="3380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False Positives</a:t>
            </a:r>
            <a:endParaRPr lang="en-US" sz="1200" dirty="0"/>
          </a:p>
        </p:txBody>
      </p:sp>
      <p:sp>
        <p:nvSpPr>
          <p:cNvPr id="54" name="Text 19"/>
          <p:cNvSpPr/>
          <p:nvPr/>
        </p:nvSpPr>
        <p:spPr>
          <a:xfrm>
            <a:off x="7878961" y="4762500"/>
            <a:ext cx="33806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Machine learning reduces irrelevant alerts</a:t>
            </a:r>
            <a:endParaRPr lang="en-US" sz="1050" dirty="0"/>
          </a:p>
        </p:txBody>
      </p:sp>
      <p:sp>
        <p:nvSpPr>
          <p:cNvPr id="55" name="Text 20"/>
          <p:cNvSpPr/>
          <p:nvPr/>
        </p:nvSpPr>
        <p:spPr>
          <a:xfrm>
            <a:off x="771525" y="54483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Human-AI Partnership</a:t>
            </a:r>
            <a:endParaRPr lang="en-US" sz="1500" dirty="0"/>
          </a:p>
        </p:txBody>
      </p:sp>
      <p:sp>
        <p:nvSpPr>
          <p:cNvPr id="56" name="Text 21"/>
          <p:cNvSpPr/>
          <p:nvPr/>
        </p:nvSpPr>
        <p:spPr>
          <a:xfrm>
            <a:off x="457200" y="5791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automates: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Repetitive, continuous, time-sensitive analysis tasks • </a:t>
            </a:r>
            <a:r>
              <a:rPr lang="en-US" sz="1200" b="1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Humans handle: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Context, threat interpretation, critical decision-making, and adversarial analysis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828800"/>
            <a:ext cx="56388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201930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1336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7432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048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352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828800"/>
            <a:ext cx="5638800" cy="1905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019300"/>
            <a:ext cx="51435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21336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27432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0480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352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4038600"/>
            <a:ext cx="115824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648200"/>
            <a:ext cx="363215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762500"/>
            <a:ext cx="3048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86727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79850" y="4648200"/>
            <a:ext cx="3632150" cy="609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94150" y="4762500"/>
            <a:ext cx="3048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70350" y="48672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4401" y="4648200"/>
            <a:ext cx="3632299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78701" y="4762500"/>
            <a:ext cx="3048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54901" y="4867275"/>
            <a:ext cx="1524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190500"/>
            <a:ext cx="672173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in Core Security Platforms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304800" y="1066800"/>
            <a:ext cx="11582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has become deeply embedded in modern cybersecurity platforms, transforming how security teams analyze and respond to threats.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104900" y="2133600"/>
            <a:ext cx="296090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SIEM Enhancement</a:t>
            </a:r>
            <a:endParaRPr lang="en-US" sz="1800" dirty="0"/>
          </a:p>
        </p:txBody>
      </p:sp>
      <p:sp>
        <p:nvSpPr>
          <p:cNvPr id="29" name="Text 3"/>
          <p:cNvSpPr/>
          <p:nvPr/>
        </p:nvSpPr>
        <p:spPr>
          <a:xfrm>
            <a:off x="723900" y="2705100"/>
            <a:ext cx="35922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log analysis and correlation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723900" y="3009900"/>
            <a:ext cx="215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false positives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723900" y="3314700"/>
            <a:ext cx="27751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Prioritized alerts based on risk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7105650" y="2133600"/>
            <a:ext cx="291822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EDR Augmentation</a:t>
            </a:r>
            <a:endParaRPr lang="en-US" sz="1800" dirty="0"/>
          </a:p>
        </p:txBody>
      </p:sp>
      <p:sp>
        <p:nvSpPr>
          <p:cNvPr id="33" name="Text 7"/>
          <p:cNvSpPr/>
          <p:nvPr/>
        </p:nvSpPr>
        <p:spPr>
          <a:xfrm>
            <a:off x="6667500" y="2705100"/>
            <a:ext cx="24085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threat detection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6667500" y="3009900"/>
            <a:ext cx="17736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Behavioral analysis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6667500" y="3314700"/>
            <a:ext cx="22304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containment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495300" y="4229100"/>
            <a:ext cx="11201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 of AI in Security Platforms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1028700" y="4838700"/>
            <a:ext cx="20902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threat detection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4813250" y="4838700"/>
            <a:ext cx="19745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alert fatigue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8597801" y="4838700"/>
            <a:ext cx="1751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accuracy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5638800" cy="426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52600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85737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4765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5812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200400"/>
            <a:ext cx="32385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30517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3733800"/>
            <a:ext cx="28575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838575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267200"/>
            <a:ext cx="3429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371975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066800"/>
            <a:ext cx="5638800" cy="426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485900"/>
            <a:ext cx="17145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2057400"/>
            <a:ext cx="5181600" cy="914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29400" y="2247900"/>
            <a:ext cx="457200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43700" y="23622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3124200"/>
            <a:ext cx="5181600" cy="914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3314700"/>
            <a:ext cx="428625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43700" y="3429000"/>
            <a:ext cx="200025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191000"/>
            <a:ext cx="5181600" cy="914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9400" y="4381500"/>
            <a:ext cx="457200" cy="533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43700" y="4495800"/>
            <a:ext cx="228600" cy="3048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190500"/>
            <a:ext cx="62102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SIEM Enhancement with AI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904875" y="12954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 of AI in SIEM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952500" y="17526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Log Analysis</a:t>
            </a:r>
            <a:endParaRPr lang="en-US" sz="1200" dirty="0"/>
          </a:p>
        </p:txBody>
      </p:sp>
      <p:sp>
        <p:nvSpPr>
          <p:cNvPr id="30" name="Text 3"/>
          <p:cNvSpPr/>
          <p:nvPr/>
        </p:nvSpPr>
        <p:spPr>
          <a:xfrm>
            <a:off x="952500" y="1981200"/>
            <a:ext cx="476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Processes and correlates vast amounts of security logs from diverse sources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952500" y="247650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False Positives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952500" y="2705100"/>
            <a:ext cx="4762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Learns normal behavior patterns to distinguish between legitimate activities and threats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971550" y="3200400"/>
            <a:ext cx="38166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Prioritized Alerts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971550" y="3429000"/>
            <a:ext cx="458003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Ranks alerts based on risk, context, and potential impact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933450" y="3733800"/>
            <a:ext cx="40660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Threat Detection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933450" y="3962400"/>
            <a:ext cx="40660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real-time detection of suspicious activities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990600" y="4267200"/>
            <a:ext cx="45718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and Entity Behavior Analytics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990600" y="4495800"/>
            <a:ext cx="457182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Establishes baselines for user behavior to flag deviations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6762750" y="1295400"/>
            <a:ext cx="51816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Real-world AI-Powered SIEM Platforms</a:t>
            </a:r>
            <a:endParaRPr lang="en-US" sz="1800" dirty="0"/>
          </a:p>
        </p:txBody>
      </p:sp>
      <p:sp>
        <p:nvSpPr>
          <p:cNvPr id="40" name="Text 13"/>
          <p:cNvSpPr/>
          <p:nvPr/>
        </p:nvSpPr>
        <p:spPr>
          <a:xfrm>
            <a:off x="7239000" y="2209800"/>
            <a:ext cx="4267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Splunk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7239000" y="2438400"/>
            <a:ext cx="426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AI for analytics, automated investigations, and risk-based alerting with MITRE ATT&amp;CK integration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7210425" y="3276600"/>
            <a:ext cx="42957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IBM QRadar SIEM</a:t>
            </a:r>
            <a:endParaRPr lang="en-US" sz="1200" dirty="0"/>
          </a:p>
        </p:txBody>
      </p:sp>
      <p:sp>
        <p:nvSpPr>
          <p:cNvPr id="43" name="Text 16"/>
          <p:cNvSpPr/>
          <p:nvPr/>
        </p:nvSpPr>
        <p:spPr>
          <a:xfrm>
            <a:off x="7210425" y="3505200"/>
            <a:ext cx="429577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Layers of AI and automation for threat intelligence and incident correlation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7239000" y="4343400"/>
            <a:ext cx="5120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SentinelOne Singularity AI SIEM</a:t>
            </a:r>
            <a:endParaRPr lang="en-US" sz="1200" dirty="0"/>
          </a:p>
        </p:txBody>
      </p:sp>
      <p:sp>
        <p:nvSpPr>
          <p:cNvPr id="45" name="Text 18"/>
          <p:cNvSpPr/>
          <p:nvPr/>
        </p:nvSpPr>
        <p:spPr>
          <a:xfrm>
            <a:off x="7239000" y="4572000"/>
            <a:ext cx="426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 on a data lake with real-time AI-powered protection and Purple AI for threat investigations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066800"/>
            <a:ext cx="5638800" cy="4838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335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828800"/>
            <a:ext cx="5181600" cy="1181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94310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047875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162300"/>
            <a:ext cx="5181600" cy="1181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2766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381375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495800"/>
            <a:ext cx="5181600" cy="1181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4610100"/>
            <a:ext cx="476250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4714875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066800"/>
            <a:ext cx="5638800" cy="4838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1333500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828800"/>
            <a:ext cx="5181600" cy="1181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194310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4175" y="2047875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162300"/>
            <a:ext cx="5181600" cy="1181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3276600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495800"/>
            <a:ext cx="5181600" cy="1181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461010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0363" y="4714875"/>
            <a:ext cx="238125" cy="2667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190500"/>
            <a:ext cx="6991052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EDR Augmentation through AI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876300" y="12954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AI-Driven EDR Capabilities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276350" y="1943100"/>
            <a:ext cx="5189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Threat Detection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1276350" y="2209800"/>
            <a:ext cx="4324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 monitoring of file activity, application behavior, and system processes to flag deviations from typical patterns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276350" y="3276600"/>
            <a:ext cx="4324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Behavioral Analysis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1276350" y="3543300"/>
            <a:ext cx="4324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AI models that learn and evolve with suspicious activity, identifying malicious behaviors from previously unseen malware variants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276350" y="4610100"/>
            <a:ext cx="4324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Containment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1276350" y="4876800"/>
            <a:ext cx="4324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response actions such as isolating infected endpoints, containing threats, or rolling back malicious activity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877050" y="1295400"/>
            <a:ext cx="6217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Real-World Implementations</a:t>
            </a:r>
            <a:endParaRPr lang="en-US" sz="1800" dirty="0"/>
          </a:p>
        </p:txBody>
      </p:sp>
      <p:sp>
        <p:nvSpPr>
          <p:cNvPr id="34" name="Text 9"/>
          <p:cNvSpPr/>
          <p:nvPr/>
        </p:nvSpPr>
        <p:spPr>
          <a:xfrm>
            <a:off x="7219950" y="1943100"/>
            <a:ext cx="5189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SentinelOne Singularity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7219950" y="2209800"/>
            <a:ext cx="4324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Delivers unified protection across endpoints, cloud workloads, and identities using behavioral AI to stop ransomware and zero-day threats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7219950" y="3276600"/>
            <a:ext cx="4324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CrowdStrike Falcon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7219950" y="3543300"/>
            <a:ext cx="4324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Integrates with EDR tools to offer native support for endpoint data and leverages AI for comprehensive visibility and faster threat detection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7219950" y="4610100"/>
            <a:ext cx="4324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Darktrace / Endpoint</a:t>
            </a:r>
            <a:endParaRPr lang="en-US" sz="1350" dirty="0"/>
          </a:p>
        </p:txBody>
      </p:sp>
      <p:sp>
        <p:nvSpPr>
          <p:cNvPr id="39" name="Text 14"/>
          <p:cNvSpPr/>
          <p:nvPr/>
        </p:nvSpPr>
        <p:spPr>
          <a:xfrm>
            <a:off x="7219950" y="4876800"/>
            <a:ext cx="43243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self-learning AI to establish baselines of normal behavior and intervenes in real-time to stop both known and novel threats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104900"/>
            <a:ext cx="2857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524000"/>
            <a:ext cx="5715000" cy="80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6764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81175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524000"/>
            <a:ext cx="571500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6764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178117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2476500"/>
            <a:ext cx="5715000" cy="800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6289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075" y="27336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2476500"/>
            <a:ext cx="5715000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26289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7475" y="27336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3543300"/>
            <a:ext cx="28575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3962400"/>
            <a:ext cx="2781300" cy="1485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4000" y="4114800"/>
            <a:ext cx="34290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8500" y="3962400"/>
            <a:ext cx="2781300" cy="1485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57700" y="4114800"/>
            <a:ext cx="34290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2200" y="3962400"/>
            <a:ext cx="2781300" cy="1485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91400" y="4114800"/>
            <a:ext cx="34290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5900" y="3962400"/>
            <a:ext cx="2781300" cy="1485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25100" y="4114800"/>
            <a:ext cx="34290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4800" y="5600700"/>
            <a:ext cx="11582400" cy="457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100" y="575310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57200" y="190500"/>
            <a:ext cx="75654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Agentic AI for Proactive Defense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704850" y="10668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Agentic AI Does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1047750" y="1676400"/>
            <a:ext cx="52861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Simulates Real Attacker Behavior</a:t>
            </a:r>
            <a:endParaRPr lang="en-US" sz="1350" dirty="0"/>
          </a:p>
        </p:txBody>
      </p:sp>
      <p:sp>
        <p:nvSpPr>
          <p:cNvPr id="31" name="Text 3"/>
          <p:cNvSpPr/>
          <p:nvPr/>
        </p:nvSpPr>
        <p:spPr>
          <a:xfrm>
            <a:off x="1047750" y="1943100"/>
            <a:ext cx="52861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Mimics complex actions of real-world adversaries at scale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6915150" y="1676400"/>
            <a:ext cx="5704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Generates New Attack Vectors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6915150" y="1943100"/>
            <a:ext cx="5704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novel attack paths to uncover zero-day vulnerabilities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047750" y="2628900"/>
            <a:ext cx="57625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Suggests Defense Strategies</a:t>
            </a:r>
            <a:endParaRPr lang="en-US" sz="1350" dirty="0"/>
          </a:p>
        </p:txBody>
      </p:sp>
      <p:sp>
        <p:nvSpPr>
          <p:cNvPr id="35" name="Text 7"/>
          <p:cNvSpPr/>
          <p:nvPr/>
        </p:nvSpPr>
        <p:spPr>
          <a:xfrm>
            <a:off x="1047750" y="2895600"/>
            <a:ext cx="57625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Analyzes simulated outcomes to recommend optimal defenses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6915150" y="2628900"/>
            <a:ext cx="49404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Evolves with Adversary Tactics</a:t>
            </a:r>
            <a:endParaRPr lang="en-US" sz="1350" dirty="0"/>
          </a:p>
        </p:txBody>
      </p:sp>
      <p:sp>
        <p:nvSpPr>
          <p:cNvPr id="37" name="Text 9"/>
          <p:cNvSpPr/>
          <p:nvPr/>
        </p:nvSpPr>
        <p:spPr>
          <a:xfrm>
            <a:off x="6915150" y="2895600"/>
            <a:ext cx="4940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Adapts simulations based on latest threat intelligence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704850" y="35052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 for Blue Teams</a:t>
            </a:r>
            <a:endParaRPr lang="en-US" sz="1800" dirty="0"/>
          </a:p>
        </p:txBody>
      </p:sp>
      <p:sp>
        <p:nvSpPr>
          <p:cNvPr id="39" name="Text 11"/>
          <p:cNvSpPr/>
          <p:nvPr/>
        </p:nvSpPr>
        <p:spPr>
          <a:xfrm>
            <a:off x="209550" y="457200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Learning</a:t>
            </a:r>
            <a:endParaRPr lang="en-US" sz="1350" dirty="0"/>
          </a:p>
        </p:txBody>
      </p:sp>
      <p:sp>
        <p:nvSpPr>
          <p:cNvPr id="40" name="Text 12"/>
          <p:cNvSpPr/>
          <p:nvPr/>
        </p:nvSpPr>
        <p:spPr>
          <a:xfrm>
            <a:off x="457200" y="4838700"/>
            <a:ext cx="2476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Accelerates skill development against evolving threats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3143250" y="457200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Coverage Expansion</a:t>
            </a:r>
            <a:endParaRPr lang="en-US" sz="1350" dirty="0"/>
          </a:p>
        </p:txBody>
      </p:sp>
      <p:sp>
        <p:nvSpPr>
          <p:cNvPr id="42" name="Text 14"/>
          <p:cNvSpPr/>
          <p:nvPr/>
        </p:nvSpPr>
        <p:spPr>
          <a:xfrm>
            <a:off x="3390900" y="4838700"/>
            <a:ext cx="2476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Detects TTPs not yet seen in production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6324600" y="4572000"/>
            <a:ext cx="2476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Bias</a:t>
            </a:r>
            <a:endParaRPr lang="en-US" sz="1350" dirty="0"/>
          </a:p>
        </p:txBody>
      </p:sp>
      <p:sp>
        <p:nvSpPr>
          <p:cNvPr id="44" name="Text 16"/>
          <p:cNvSpPr/>
          <p:nvPr/>
        </p:nvSpPr>
        <p:spPr>
          <a:xfrm>
            <a:off x="6324600" y="4838700"/>
            <a:ext cx="2476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Tests unpredictable attack patterns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9010650" y="457200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Proactive Defense</a:t>
            </a:r>
            <a:endParaRPr lang="en-US" sz="1350" dirty="0"/>
          </a:p>
        </p:txBody>
      </p:sp>
      <p:sp>
        <p:nvSpPr>
          <p:cNvPr id="46" name="Text 18"/>
          <p:cNvSpPr/>
          <p:nvPr/>
        </p:nvSpPr>
        <p:spPr>
          <a:xfrm>
            <a:off x="9258300" y="4838700"/>
            <a:ext cx="2476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Implements mitigations before attacks occur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647700" y="5715000"/>
            <a:ext cx="1362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Agentic AI integrates with SOC dashboards and SIEM/EDR platforms for live testing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990600"/>
            <a:ext cx="3784550" cy="415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811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12382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650" y="990600"/>
            <a:ext cx="3784550" cy="415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4150" y="11811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5588" y="123825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8701" y="990600"/>
            <a:ext cx="3784699" cy="415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01" y="1257300"/>
            <a:ext cx="326529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7215" y="1314450"/>
            <a:ext cx="190500" cy="2667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7200" y="190500"/>
            <a:ext cx="722804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Hands-On Simulation Exercises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914400" y="1238250"/>
            <a:ext cx="33352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Synthetic Phishing Attack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419100" y="1676400"/>
            <a:ext cx="3403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agent simulates spear-phishing targeting finance department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419100" y="22479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EXERCISE OBJECTIVE:</a:t>
            </a:r>
            <a:endParaRPr lang="en-US" sz="1050" dirty="0"/>
          </a:p>
        </p:txBody>
      </p:sp>
      <p:sp>
        <p:nvSpPr>
          <p:cNvPr id="17" name="Text 4"/>
          <p:cNvSpPr/>
          <p:nvPr/>
        </p:nvSpPr>
        <p:spPr>
          <a:xfrm>
            <a:off x="419100" y="247650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 attack, trace lateral movement, implement blocking measures</a:t>
            </a:r>
            <a:endParaRPr lang="en-US" sz="1050" dirty="0"/>
          </a:p>
        </p:txBody>
      </p:sp>
      <p:sp>
        <p:nvSpPr>
          <p:cNvPr id="18" name="Text 5"/>
          <p:cNvSpPr/>
          <p:nvPr/>
        </p:nvSpPr>
        <p:spPr>
          <a:xfrm>
            <a:off x="419100" y="29718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STEPS:</a:t>
            </a:r>
            <a:endParaRPr lang="en-US" sz="1050" dirty="0"/>
          </a:p>
        </p:txBody>
      </p:sp>
      <p:sp>
        <p:nvSpPr>
          <p:cNvPr id="19" name="Text 6"/>
          <p:cNvSpPr/>
          <p:nvPr/>
        </p:nvSpPr>
        <p:spPr>
          <a:xfrm>
            <a:off x="419100" y="32004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AI-generated phishing emails</a:t>
            </a:r>
            <a:endParaRPr lang="en-US" sz="1050" dirty="0"/>
          </a:p>
        </p:txBody>
      </p:sp>
      <p:sp>
        <p:nvSpPr>
          <p:cNvPr id="20" name="Text 7"/>
          <p:cNvSpPr/>
          <p:nvPr/>
        </p:nvSpPr>
        <p:spPr>
          <a:xfrm>
            <a:off x="419100" y="34290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Trace affected endpoints via EDR logs</a:t>
            </a:r>
            <a:endParaRPr lang="en-US" sz="1050" dirty="0"/>
          </a:p>
        </p:txBody>
      </p:sp>
      <p:sp>
        <p:nvSpPr>
          <p:cNvPr id="21" name="Text 8"/>
          <p:cNvSpPr/>
          <p:nvPr/>
        </p:nvSpPr>
        <p:spPr>
          <a:xfrm>
            <a:off x="419100" y="36576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automated containment rules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419100" y="38862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Map TTPs to MITRE ATT&amp;CK framework</a:t>
            </a:r>
            <a:endParaRPr lang="en-US" sz="1050" dirty="0"/>
          </a:p>
        </p:txBody>
      </p:sp>
      <p:sp>
        <p:nvSpPr>
          <p:cNvPr id="23" name="Text 10"/>
          <p:cNvSpPr/>
          <p:nvPr/>
        </p:nvSpPr>
        <p:spPr>
          <a:xfrm>
            <a:off x="419100" y="43434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LEARNING OUTCOME: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419100" y="457200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Practice rapid detection and automated response using agentic AI</a:t>
            </a:r>
            <a:endParaRPr lang="en-US" sz="1050" dirty="0"/>
          </a:p>
        </p:txBody>
      </p:sp>
      <p:sp>
        <p:nvSpPr>
          <p:cNvPr id="25" name="Text 12"/>
          <p:cNvSpPr/>
          <p:nvPr/>
        </p:nvSpPr>
        <p:spPr>
          <a:xfrm>
            <a:off x="4889450" y="1238250"/>
            <a:ext cx="34495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AI-Generated Ransomware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4394150" y="1676400"/>
            <a:ext cx="3403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Agentic AI simulates ransomware behavior on isolated test network</a:t>
            </a:r>
            <a:endParaRPr lang="en-US" sz="1200" dirty="0"/>
          </a:p>
        </p:txBody>
      </p:sp>
      <p:sp>
        <p:nvSpPr>
          <p:cNvPr id="27" name="Text 14"/>
          <p:cNvSpPr/>
          <p:nvPr/>
        </p:nvSpPr>
        <p:spPr>
          <a:xfrm>
            <a:off x="4394150" y="22479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EXERCISE OBJECTIVE:</a:t>
            </a:r>
            <a:endParaRPr lang="en-US" sz="1050" dirty="0"/>
          </a:p>
        </p:txBody>
      </p:sp>
      <p:sp>
        <p:nvSpPr>
          <p:cNvPr id="28" name="Text 15"/>
          <p:cNvSpPr/>
          <p:nvPr/>
        </p:nvSpPr>
        <p:spPr>
          <a:xfrm>
            <a:off x="4394150" y="247650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Contain ransomware while preserving business continuity</a:t>
            </a:r>
            <a:endParaRPr lang="en-US" sz="1050" dirty="0"/>
          </a:p>
        </p:txBody>
      </p:sp>
      <p:sp>
        <p:nvSpPr>
          <p:cNvPr id="29" name="Text 16"/>
          <p:cNvSpPr/>
          <p:nvPr/>
        </p:nvSpPr>
        <p:spPr>
          <a:xfrm>
            <a:off x="4394150" y="29718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STEPS:</a:t>
            </a:r>
            <a:endParaRPr lang="en-US" sz="1050" dirty="0"/>
          </a:p>
        </p:txBody>
      </p:sp>
      <p:sp>
        <p:nvSpPr>
          <p:cNvPr id="30" name="Text 17"/>
          <p:cNvSpPr/>
          <p:nvPr/>
        </p:nvSpPr>
        <p:spPr>
          <a:xfrm>
            <a:off x="4394150" y="32004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Observe abnormal file encryption patterns</a:t>
            </a:r>
            <a:endParaRPr lang="en-US" sz="1050" dirty="0"/>
          </a:p>
        </p:txBody>
      </p:sp>
      <p:sp>
        <p:nvSpPr>
          <p:cNvPr id="31" name="Text 18"/>
          <p:cNvSpPr/>
          <p:nvPr/>
        </p:nvSpPr>
        <p:spPr>
          <a:xfrm>
            <a:off x="4394150" y="34290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process trees to identify attack origin</a:t>
            </a:r>
            <a:endParaRPr lang="en-US" sz="1050" dirty="0"/>
          </a:p>
        </p:txBody>
      </p:sp>
      <p:sp>
        <p:nvSpPr>
          <p:cNvPr id="32" name="Text 19"/>
          <p:cNvSpPr/>
          <p:nvPr/>
        </p:nvSpPr>
        <p:spPr>
          <a:xfrm>
            <a:off x="4394150" y="36576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SOAR tools to isolate endpoints</a:t>
            </a:r>
            <a:endParaRPr lang="en-US" sz="1050" dirty="0"/>
          </a:p>
        </p:txBody>
      </p:sp>
      <p:sp>
        <p:nvSpPr>
          <p:cNvPr id="33" name="Text 20"/>
          <p:cNvSpPr/>
          <p:nvPr/>
        </p:nvSpPr>
        <p:spPr>
          <a:xfrm>
            <a:off x="4394150" y="3886200"/>
            <a:ext cx="4312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AI-recommended hardening steps</a:t>
            </a:r>
            <a:endParaRPr lang="en-US" sz="1050" dirty="0"/>
          </a:p>
        </p:txBody>
      </p:sp>
      <p:sp>
        <p:nvSpPr>
          <p:cNvPr id="34" name="Text 21"/>
          <p:cNvSpPr/>
          <p:nvPr/>
        </p:nvSpPr>
        <p:spPr>
          <a:xfrm>
            <a:off x="4394150" y="4343400"/>
            <a:ext cx="34035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LEARNING OUTCOME:</a:t>
            </a:r>
            <a:endParaRPr lang="en-US" sz="1050" dirty="0"/>
          </a:p>
        </p:txBody>
      </p:sp>
      <p:sp>
        <p:nvSpPr>
          <p:cNvPr id="35" name="Text 22"/>
          <p:cNvSpPr/>
          <p:nvPr/>
        </p:nvSpPr>
        <p:spPr>
          <a:xfrm>
            <a:off x="4394150" y="4572000"/>
            <a:ext cx="34035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Gain hands-on incident response experience with AI insights</a:t>
            </a:r>
            <a:endParaRPr lang="en-US" sz="1050" dirty="0"/>
          </a:p>
        </p:txBody>
      </p:sp>
      <p:sp>
        <p:nvSpPr>
          <p:cNvPr id="36" name="Text 23"/>
          <p:cNvSpPr/>
          <p:nvPr/>
        </p:nvSpPr>
        <p:spPr>
          <a:xfrm>
            <a:off x="8810030" y="1181100"/>
            <a:ext cx="296287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Red/Blue Continuous Simulation</a:t>
            </a:r>
            <a:endParaRPr lang="en-US" sz="1500" dirty="0"/>
          </a:p>
        </p:txBody>
      </p:sp>
      <p:sp>
        <p:nvSpPr>
          <p:cNvPr id="37" name="Text 24"/>
          <p:cNvSpPr/>
          <p:nvPr/>
        </p:nvSpPr>
        <p:spPr>
          <a:xfrm>
            <a:off x="8369201" y="1828800"/>
            <a:ext cx="34036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runs persistent Red Team attacks against Blue Team environment</a:t>
            </a:r>
            <a:endParaRPr lang="en-US" sz="1200" dirty="0"/>
          </a:p>
        </p:txBody>
      </p:sp>
      <p:sp>
        <p:nvSpPr>
          <p:cNvPr id="38" name="Text 25"/>
          <p:cNvSpPr/>
          <p:nvPr/>
        </p:nvSpPr>
        <p:spPr>
          <a:xfrm>
            <a:off x="8369201" y="2400300"/>
            <a:ext cx="3403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EXERCISE OBJECTIVE:</a:t>
            </a:r>
            <a:endParaRPr lang="en-US" sz="1050" dirty="0"/>
          </a:p>
        </p:txBody>
      </p:sp>
      <p:sp>
        <p:nvSpPr>
          <p:cNvPr id="39" name="Text 26"/>
          <p:cNvSpPr/>
          <p:nvPr/>
        </p:nvSpPr>
        <p:spPr>
          <a:xfrm>
            <a:off x="8369201" y="2628900"/>
            <a:ext cx="34036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detection rules and enhance defense readiness</a:t>
            </a:r>
            <a:endParaRPr lang="en-US" sz="1050" dirty="0"/>
          </a:p>
        </p:txBody>
      </p:sp>
      <p:sp>
        <p:nvSpPr>
          <p:cNvPr id="40" name="Text 27"/>
          <p:cNvSpPr/>
          <p:nvPr/>
        </p:nvSpPr>
        <p:spPr>
          <a:xfrm>
            <a:off x="8369201" y="3124200"/>
            <a:ext cx="3403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STEPS:</a:t>
            </a:r>
            <a:endParaRPr lang="en-US" sz="1050" dirty="0"/>
          </a:p>
        </p:txBody>
      </p:sp>
      <p:sp>
        <p:nvSpPr>
          <p:cNvPr id="41" name="Text 28"/>
          <p:cNvSpPr/>
          <p:nvPr/>
        </p:nvSpPr>
        <p:spPr>
          <a:xfrm>
            <a:off x="8369201" y="3352800"/>
            <a:ext cx="43130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AI-generated attack logs daily</a:t>
            </a:r>
            <a:endParaRPr lang="en-US" sz="1050" dirty="0"/>
          </a:p>
        </p:txBody>
      </p:sp>
      <p:sp>
        <p:nvSpPr>
          <p:cNvPr id="42" name="Text 29"/>
          <p:cNvSpPr/>
          <p:nvPr/>
        </p:nvSpPr>
        <p:spPr>
          <a:xfrm>
            <a:off x="8369201" y="3581400"/>
            <a:ext cx="43130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Update detection rules in SIEM/EDR</a:t>
            </a:r>
            <a:endParaRPr lang="en-US" sz="1050" dirty="0"/>
          </a:p>
        </p:txBody>
      </p:sp>
      <p:sp>
        <p:nvSpPr>
          <p:cNvPr id="43" name="Text 30"/>
          <p:cNvSpPr/>
          <p:nvPr/>
        </p:nvSpPr>
        <p:spPr>
          <a:xfrm>
            <a:off x="8369201" y="3810000"/>
            <a:ext cx="43130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defenses against simulated attacks</a:t>
            </a:r>
            <a:endParaRPr lang="en-US" sz="1050" dirty="0"/>
          </a:p>
        </p:txBody>
      </p:sp>
      <p:sp>
        <p:nvSpPr>
          <p:cNvPr id="44" name="Text 31"/>
          <p:cNvSpPr/>
          <p:nvPr/>
        </p:nvSpPr>
        <p:spPr>
          <a:xfrm>
            <a:off x="8369201" y="4038600"/>
            <a:ext cx="43130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 Purple Team review</a:t>
            </a:r>
            <a:endParaRPr lang="en-US" sz="1050" dirty="0"/>
          </a:p>
        </p:txBody>
      </p:sp>
      <p:sp>
        <p:nvSpPr>
          <p:cNvPr id="45" name="Text 32"/>
          <p:cNvSpPr/>
          <p:nvPr/>
        </p:nvSpPr>
        <p:spPr>
          <a:xfrm>
            <a:off x="8369201" y="4343400"/>
            <a:ext cx="340369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LEARNING OUTCOME:</a:t>
            </a:r>
            <a:endParaRPr lang="en-US" sz="1050" dirty="0"/>
          </a:p>
        </p:txBody>
      </p:sp>
      <p:sp>
        <p:nvSpPr>
          <p:cNvPr id="46" name="Text 33"/>
          <p:cNvSpPr/>
          <p:nvPr/>
        </p:nvSpPr>
        <p:spPr>
          <a:xfrm>
            <a:off x="8369201" y="4572000"/>
            <a:ext cx="340369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Experience iterative improvement of defenses using AI-driven insights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752600"/>
            <a:ext cx="5715000" cy="3352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9431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286000"/>
            <a:ext cx="54102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38125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743200"/>
            <a:ext cx="54102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3845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200400"/>
            <a:ext cx="54102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295650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657600"/>
            <a:ext cx="54102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75285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114800"/>
            <a:ext cx="54102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21005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572000"/>
            <a:ext cx="54102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66725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600" y="5257800"/>
            <a:ext cx="5715000" cy="1028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1752600"/>
            <a:ext cx="5715000" cy="3390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1943100"/>
            <a:ext cx="238125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2324100"/>
            <a:ext cx="2647950" cy="876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15100" y="247650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3050" y="2324100"/>
            <a:ext cx="2647950" cy="876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7350" y="24765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3314700"/>
            <a:ext cx="2647950" cy="876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15100" y="34671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3050" y="3314700"/>
            <a:ext cx="2647950" cy="876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77350" y="34671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00800" y="4305300"/>
            <a:ext cx="2647950" cy="685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44577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63050" y="4305300"/>
            <a:ext cx="2647950" cy="685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77350" y="4457700"/>
            <a:ext cx="15240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457200" y="190500"/>
            <a:ext cx="67119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Practical Application Activity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228600" y="990600"/>
            <a:ext cx="1173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Task AI Suitability Evaluation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228600" y="1371600"/>
            <a:ext cx="14081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optimal security tasks for AI automation and augmentation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647700" y="19050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 Security Tasks</a:t>
            </a:r>
            <a:endParaRPr lang="en-US" sz="1500" dirty="0"/>
          </a:p>
        </p:txBody>
      </p:sp>
      <p:sp>
        <p:nvSpPr>
          <p:cNvPr id="37" name="Text 4"/>
          <p:cNvSpPr/>
          <p:nvPr/>
        </p:nvSpPr>
        <p:spPr>
          <a:xfrm>
            <a:off x="762000" y="2362200"/>
            <a:ext cx="25838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 analysis and monitoring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762000" y="2819400"/>
            <a:ext cx="26249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Incident triage and response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762000" y="3276600"/>
            <a:ext cx="29994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Threat hunting and investigation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762000" y="3733800"/>
            <a:ext cx="22856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Vulnerability assessment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762000" y="4191000"/>
            <a:ext cx="26306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policy management</a:t>
            </a:r>
            <a:endParaRPr lang="en-US" sz="1200" dirty="0"/>
          </a:p>
        </p:txBody>
      </p:sp>
      <p:sp>
        <p:nvSpPr>
          <p:cNvPr id="42" name="Text 9"/>
          <p:cNvSpPr/>
          <p:nvPr/>
        </p:nvSpPr>
        <p:spPr>
          <a:xfrm>
            <a:off x="762000" y="4648200"/>
            <a:ext cx="26674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management reviews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381000" y="5429250"/>
            <a:ext cx="270748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Tasks meeting 2+ criteria: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4755803" y="5410200"/>
            <a:ext cx="12424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out of 7</a:t>
            </a:r>
            <a:endParaRPr lang="en-US" sz="1500" dirty="0"/>
          </a:p>
        </p:txBody>
      </p:sp>
      <p:sp>
        <p:nvSpPr>
          <p:cNvPr id="45" name="Text 12"/>
          <p:cNvSpPr/>
          <p:nvPr/>
        </p:nvSpPr>
        <p:spPr>
          <a:xfrm>
            <a:off x="381000" y="5753100"/>
            <a:ext cx="5410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Tasks meeting 2+ criteria are ideal candidates for AI augmentation, including agentic AI for Blue Team simulation and hands-on Red/Blue exercises.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6715125" y="1905000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Suitability Criteria</a:t>
            </a:r>
            <a:endParaRPr lang="en-US" sz="1500" dirty="0"/>
          </a:p>
        </p:txBody>
      </p:sp>
      <p:sp>
        <p:nvSpPr>
          <p:cNvPr id="47" name="Text 14"/>
          <p:cNvSpPr/>
          <p:nvPr/>
        </p:nvSpPr>
        <p:spPr>
          <a:xfrm>
            <a:off x="6724650" y="2438400"/>
            <a:ext cx="15910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High-volume logs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6515100" y="27051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Millions of events requiring analysis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9505950" y="2438400"/>
            <a:ext cx="19298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9277350" y="2705100"/>
            <a:ext cx="2419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24/7 continuous surveillance needed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6743700" y="3429000"/>
            <a:ext cx="14566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Pattern analysis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6515100" y="36957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Recurring patterns identify threats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9505950" y="3429000"/>
            <a:ext cx="14641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Repetitive tasks</a:t>
            </a:r>
            <a:endParaRPr lang="en-US" sz="1200" dirty="0"/>
          </a:p>
        </p:txBody>
      </p:sp>
      <p:sp>
        <p:nvSpPr>
          <p:cNvPr id="54" name="Text 21"/>
          <p:cNvSpPr/>
          <p:nvPr/>
        </p:nvSpPr>
        <p:spPr>
          <a:xfrm>
            <a:off x="9277350" y="3695700"/>
            <a:ext cx="2419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processes repeated frequently</a:t>
            </a:r>
            <a:endParaRPr lang="en-US" sz="1050" dirty="0"/>
          </a:p>
        </p:txBody>
      </p:sp>
      <p:sp>
        <p:nvSpPr>
          <p:cNvPr id="55" name="Text 22"/>
          <p:cNvSpPr/>
          <p:nvPr/>
        </p:nvSpPr>
        <p:spPr>
          <a:xfrm>
            <a:off x="6743700" y="4419600"/>
            <a:ext cx="20913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False positive overload</a:t>
            </a:r>
            <a:endParaRPr lang="en-US" sz="1200" dirty="0"/>
          </a:p>
        </p:txBody>
      </p:sp>
      <p:sp>
        <p:nvSpPr>
          <p:cNvPr id="56" name="Text 23"/>
          <p:cNvSpPr/>
          <p:nvPr/>
        </p:nvSpPr>
        <p:spPr>
          <a:xfrm>
            <a:off x="6515100" y="46863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rate of irrelevant alerts</a:t>
            </a:r>
            <a:endParaRPr lang="en-US" sz="1050" dirty="0"/>
          </a:p>
        </p:txBody>
      </p:sp>
      <p:sp>
        <p:nvSpPr>
          <p:cNvPr id="57" name="Text 24"/>
          <p:cNvSpPr/>
          <p:nvPr/>
        </p:nvSpPr>
        <p:spPr>
          <a:xfrm>
            <a:off x="9505950" y="4419600"/>
            <a:ext cx="20218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Heavy documentation</a:t>
            </a:r>
            <a:endParaRPr lang="en-US" sz="1200" dirty="0"/>
          </a:p>
        </p:txBody>
      </p:sp>
      <p:sp>
        <p:nvSpPr>
          <p:cNvPr id="58" name="Text 25"/>
          <p:cNvSpPr/>
          <p:nvPr/>
        </p:nvSpPr>
        <p:spPr>
          <a:xfrm>
            <a:off x="9277350" y="4686300"/>
            <a:ext cx="2903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Extensive investigation burden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96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104900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524000"/>
            <a:ext cx="56769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6764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78117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524000"/>
            <a:ext cx="5676900" cy="1257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16764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1763" y="178117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3009900"/>
            <a:ext cx="5676900" cy="1257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1623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263" y="3267075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009900"/>
            <a:ext cx="5676900" cy="1257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31623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5575" y="32670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4495800"/>
            <a:ext cx="11582400" cy="2095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762500"/>
            <a:ext cx="2286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" y="60960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11951" y="6096000"/>
            <a:ext cx="190500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190500"/>
            <a:ext cx="789991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Takeaways and Future Impact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590550" y="1066800"/>
            <a:ext cx="11582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085850" y="1676400"/>
            <a:ext cx="4743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as a Transformer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1085850" y="1943100"/>
            <a:ext cx="47434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addresses cybersecurity challenges by analyzing millions of events per second, detecting invisible patterns, and predicting emerging threats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6991350" y="1676400"/>
            <a:ext cx="4743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Elevating Analysts</a:t>
            </a:r>
            <a:endParaRPr lang="en-US" sz="1350" dirty="0"/>
          </a:p>
        </p:txBody>
      </p:sp>
      <p:sp>
        <p:nvSpPr>
          <p:cNvPr id="26" name="Text 5"/>
          <p:cNvSpPr/>
          <p:nvPr/>
        </p:nvSpPr>
        <p:spPr>
          <a:xfrm>
            <a:off x="6991350" y="1943100"/>
            <a:ext cx="47434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automates repetitive tasks while preserving human expertise for critical decision-making, threat interpretation, and strategic analysis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1085850" y="3162300"/>
            <a:ext cx="4743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Blue Team Enhancement</a:t>
            </a:r>
            <a:endParaRPr lang="en-US" sz="1350" dirty="0"/>
          </a:p>
        </p:txBody>
      </p:sp>
      <p:sp>
        <p:nvSpPr>
          <p:cNvPr id="28" name="Text 7"/>
          <p:cNvSpPr/>
          <p:nvPr/>
        </p:nvSpPr>
        <p:spPr>
          <a:xfrm>
            <a:off x="1085850" y="3429000"/>
            <a:ext cx="47434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Agentic AI strengthens Blue Teams through realistic simulations, proactive TTP discovery, and hands-on training exercises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991350" y="3162300"/>
            <a:ext cx="47434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Symbiotic Relationship</a:t>
            </a:r>
            <a:endParaRPr lang="en-US" sz="1350" dirty="0"/>
          </a:p>
        </p:txBody>
      </p:sp>
      <p:sp>
        <p:nvSpPr>
          <p:cNvPr id="30" name="Text 9"/>
          <p:cNvSpPr/>
          <p:nvPr/>
        </p:nvSpPr>
        <p:spPr>
          <a:xfrm>
            <a:off x="6991350" y="3429000"/>
            <a:ext cx="474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partnership ensures networks are safer, responses are faster, and risks are significantly smaller across all domains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876300" y="4724400"/>
            <a:ext cx="11125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581C8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Impact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533400" y="5143500"/>
            <a:ext cx="111252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 AI evolves, its integration with cybersecurity will continue to accelerate learning, refine incident response protocols, and strengthen defense readiness. The organizations that leverage AI effectively will maintain a significant advantage against increasingly sophisticated threats.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800100" y="6115050"/>
            <a:ext cx="60264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detection across network, cloud, endpoint, and identity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7778651" y="6115050"/>
            <a:ext cx="46559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Accelerated learning through AI-driven simulations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10644336" y="6553200"/>
            <a:ext cx="14914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December 2,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1147</Words>
  <Application>Microsoft Office PowerPoint</Application>
  <PresentationFormat>Widescreen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ui-sans-serif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Sean</cp:lastModifiedBy>
  <cp:revision>1</cp:revision>
  <dcterms:created xsi:type="dcterms:W3CDTF">2025-12-02T00:59:16Z</dcterms:created>
  <dcterms:modified xsi:type="dcterms:W3CDTF">2025-12-02T00:59:38Z</dcterms:modified>
</cp:coreProperties>
</file>