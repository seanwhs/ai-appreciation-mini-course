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8771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3.pn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3-d2nf7r98bjvh7rlj081g.png"/>
          <p:cNvPicPr>
            <a:picLocks noChangeAspect="1"/>
          </p:cNvPicPr>
          <p:nvPr/>
        </p:nvPicPr>
        <p:blipFill>
          <a:blip r:embed="rId3"/>
          <a:srcRect l="77" r="77"/>
          <a:stretch/>
        </p:blipFill>
        <p:spPr>
          <a:xfrm>
            <a:off x="-26035" y="-5715"/>
            <a:ext cx="2477135" cy="6856730"/>
          </a:xfrm>
          <a:prstGeom prst="rect">
            <a:avLst/>
          </a:prstGeom>
        </p:spPr>
      </p:pic>
      <p:pic>
        <p:nvPicPr>
          <p:cNvPr id="3" name="Image 1" descr="https://kimi-img.moonshot.cn/pub/slides/slides_tmpl/image/25-08-27-20:02:53-d2nf7r98bjvh7rlj0840.png"/>
          <p:cNvPicPr>
            <a:picLocks noChangeAspect="1"/>
          </p:cNvPicPr>
          <p:nvPr/>
        </p:nvPicPr>
        <p:blipFill>
          <a:blip r:embed="rId4"/>
          <a:srcRect b="5326"/>
          <a:stretch/>
        </p:blipFill>
        <p:spPr>
          <a:xfrm>
            <a:off x="6716395" y="0"/>
            <a:ext cx="5475605" cy="6851015"/>
          </a:xfrm>
          <a:prstGeom prst="rect">
            <a:avLst/>
          </a:prstGeom>
        </p:spPr>
      </p:pic>
      <p:pic>
        <p:nvPicPr>
          <p:cNvPr id="4" name="Image 2" descr="https://kimi-img.moonshot.cn/pub/slides/slides_tmpl/image/25-08-27-20:02:52-d2nf7r18bjvh7rlj07vg.png"/>
          <p:cNvPicPr>
            <a:picLocks noChangeAspect="1"/>
          </p:cNvPicPr>
          <p:nvPr/>
        </p:nvPicPr>
        <p:blipFill>
          <a:blip r:embed="rId5"/>
          <a:stretch>
            <a:fillRect/>
          </a:stretch>
        </p:blipFill>
        <p:spPr>
          <a:xfrm>
            <a:off x="6549540" y="3975735"/>
            <a:ext cx="590400" cy="590400"/>
          </a:xfrm>
          <a:prstGeom prst="rect">
            <a:avLst/>
          </a:prstGeom>
        </p:spPr>
      </p:pic>
      <p:pic>
        <p:nvPicPr>
          <p:cNvPr id="5" name="Image 3" descr="https://kimi-img.moonshot.cn/pub/slides/slides_tmpl/image/25-08-27-20:02:52-d2nf7r18bjvh7rlj07vg.png"/>
          <p:cNvPicPr>
            <a:picLocks noChangeAspect="1"/>
          </p:cNvPicPr>
          <p:nvPr/>
        </p:nvPicPr>
        <p:blipFill>
          <a:blip r:embed="rId5"/>
          <a:stretch>
            <a:fillRect/>
          </a:stretch>
        </p:blipFill>
        <p:spPr>
          <a:xfrm>
            <a:off x="1113155" y="826135"/>
            <a:ext cx="859790" cy="859790"/>
          </a:xfrm>
          <a:prstGeom prst="rect">
            <a:avLst/>
          </a:prstGeom>
        </p:spPr>
      </p:pic>
      <p:sp>
        <p:nvSpPr>
          <p:cNvPr id="6" name="Text 0"/>
          <p:cNvSpPr/>
          <p:nvPr/>
        </p:nvSpPr>
        <p:spPr>
          <a:xfrm>
            <a:off x="1153160" y="1971040"/>
            <a:ext cx="6761480" cy="2115820"/>
          </a:xfrm>
          <a:prstGeom prst="rect">
            <a:avLst/>
          </a:prstGeom>
          <a:noFill/>
          <a:ln/>
        </p:spPr>
        <p:txBody>
          <a:bodyPr wrap="square" lIns="91440" tIns="45720" rIns="91440" bIns="45720" rtlCol="0" anchor="t"/>
          <a:lstStyle/>
          <a:p>
            <a:pPr algn="just">
              <a:lnSpc>
                <a:spcPct val="120000"/>
              </a:lnSpc>
            </a:pPr>
            <a:r>
              <a:rPr lang="en-US" sz="5400" b="1" dirty="0">
                <a:solidFill>
                  <a:srgbClr val="000000"/>
                </a:solidFill>
                <a:latin typeface="Microsoft Sans Serif" pitchFamily="34" charset="0"/>
                <a:ea typeface="Microsoft Sans Serif" pitchFamily="34" charset="-122"/>
                <a:cs typeface="Microsoft Sans Serif" pitchFamily="34" charset="-120"/>
              </a:rPr>
              <a:t>Machine Learning Unboxed</a:t>
            </a:r>
            <a:endParaRPr lang="en-US" sz="1600" dirty="0"/>
          </a:p>
        </p:txBody>
      </p:sp>
      <p:sp>
        <p:nvSpPr>
          <p:cNvPr id="7" name="Text 1"/>
          <p:cNvSpPr/>
          <p:nvPr/>
        </p:nvSpPr>
        <p:spPr>
          <a:xfrm>
            <a:off x="1356995" y="4670425"/>
            <a:ext cx="2249805" cy="40011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000000"/>
                </a:solidFill>
                <a:latin typeface="Microsoft Sans Serif" pitchFamily="34" charset="0"/>
                <a:ea typeface="Microsoft Sans Serif" pitchFamily="34" charset="-122"/>
                <a:cs typeface="Microsoft Sans Serif" pitchFamily="34" charset="-120"/>
              </a:rPr>
              <a:t>Sean Wong</a:t>
            </a:r>
            <a:endParaRPr lang="en-US" sz="1600" dirty="0"/>
          </a:p>
        </p:txBody>
      </p:sp>
      <p:sp>
        <p:nvSpPr>
          <p:cNvPr id="8" name="Shape 2"/>
          <p:cNvSpPr/>
          <p:nvPr/>
        </p:nvSpPr>
        <p:spPr>
          <a:xfrm>
            <a:off x="1411526" y="4610735"/>
            <a:ext cx="2098754" cy="518160"/>
          </a:xfrm>
          <a:prstGeom prst="roundRect">
            <a:avLst>
              <a:gd name="adj" fmla="val 50000"/>
            </a:avLst>
          </a:prstGeom>
          <a:solidFill>
            <a:srgbClr val="000000">
              <a:alpha val="0"/>
            </a:srgbClr>
          </a:solidFill>
          <a:ln w="19050">
            <a:solidFill>
              <a:srgbClr val="000000"/>
            </a:solidFill>
            <a:prstDash val="solid"/>
          </a:ln>
        </p:spPr>
        <p:txBody>
          <a:bodyPr/>
          <a:lstStyle/>
          <a:p>
            <a:endParaRPr lang="en-SG" dirty="0"/>
          </a:p>
        </p:txBody>
      </p:sp>
      <p:sp>
        <p:nvSpPr>
          <p:cNvPr id="9" name="Text 3"/>
          <p:cNvSpPr/>
          <p:nvPr/>
        </p:nvSpPr>
        <p:spPr>
          <a:xfrm>
            <a:off x="1452880" y="4610735"/>
            <a:ext cx="2057400" cy="51816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4"/>
          <p:cNvSpPr/>
          <p:nvPr/>
        </p:nvSpPr>
        <p:spPr>
          <a:xfrm>
            <a:off x="1356995" y="5413375"/>
            <a:ext cx="2249805" cy="306784"/>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000000"/>
                </a:solidFill>
                <a:latin typeface="Microsoft Sans Serif" pitchFamily="34" charset="0"/>
                <a:ea typeface="Microsoft Sans Serif" pitchFamily="34" charset="-122"/>
                <a:cs typeface="Microsoft Sans Serif" pitchFamily="34" charset="-120"/>
              </a:rPr>
              <a:t>2025/01/01</a:t>
            </a:r>
            <a:endParaRPr lang="en-US" sz="1600" dirty="0"/>
          </a:p>
        </p:txBody>
      </p:sp>
      <p:sp>
        <p:nvSpPr>
          <p:cNvPr id="11" name="Shape 5"/>
          <p:cNvSpPr/>
          <p:nvPr/>
        </p:nvSpPr>
        <p:spPr>
          <a:xfrm>
            <a:off x="1452880" y="5353685"/>
            <a:ext cx="2057400" cy="518160"/>
          </a:xfrm>
          <a:prstGeom prst="roundRect">
            <a:avLst>
              <a:gd name="adj" fmla="val 50000"/>
            </a:avLst>
          </a:prstGeom>
          <a:solidFill>
            <a:srgbClr val="000000">
              <a:alpha val="0"/>
            </a:srgbClr>
          </a:solidFill>
          <a:ln w="19050">
            <a:solidFill>
              <a:srgbClr val="000000"/>
            </a:solidFill>
            <a:prstDash val="solid"/>
          </a:ln>
        </p:spPr>
      </p:sp>
      <p:sp>
        <p:nvSpPr>
          <p:cNvPr id="12" name="Text 6"/>
          <p:cNvSpPr/>
          <p:nvPr/>
        </p:nvSpPr>
        <p:spPr>
          <a:xfrm>
            <a:off x="1452880" y="5353685"/>
            <a:ext cx="2057400" cy="51816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7"/>
          <p:cNvSpPr/>
          <p:nvPr/>
        </p:nvSpPr>
        <p:spPr>
          <a:xfrm>
            <a:off x="1788795" y="5076825"/>
            <a:ext cx="153670" cy="153670"/>
          </a:xfrm>
          <a:prstGeom prst="star4">
            <a:avLst>
              <a:gd name="adj" fmla="val 10416"/>
            </a:avLst>
          </a:prstGeom>
          <a:solidFill>
            <a:srgbClr val="FFBB59"/>
          </a:solidFill>
          <a:ln/>
        </p:spPr>
      </p:sp>
      <p:sp>
        <p:nvSpPr>
          <p:cNvPr id="14" name="Text 8"/>
          <p:cNvSpPr/>
          <p:nvPr/>
        </p:nvSpPr>
        <p:spPr>
          <a:xfrm>
            <a:off x="1788795" y="5076825"/>
            <a:ext cx="153670" cy="15367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9"/>
          <p:cNvSpPr/>
          <p:nvPr/>
        </p:nvSpPr>
        <p:spPr>
          <a:xfrm>
            <a:off x="1261745" y="4424680"/>
            <a:ext cx="153670" cy="153670"/>
          </a:xfrm>
          <a:prstGeom prst="star4">
            <a:avLst>
              <a:gd name="adj" fmla="val 10416"/>
            </a:avLst>
          </a:prstGeom>
          <a:solidFill>
            <a:srgbClr val="FFBB59"/>
          </a:solidFill>
          <a:ln/>
        </p:spPr>
      </p:sp>
      <p:sp>
        <p:nvSpPr>
          <p:cNvPr id="16" name="Text 10"/>
          <p:cNvSpPr/>
          <p:nvPr/>
        </p:nvSpPr>
        <p:spPr>
          <a:xfrm>
            <a:off x="1261745" y="4424680"/>
            <a:ext cx="153670" cy="15367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1"/>
          <p:cNvSpPr/>
          <p:nvPr/>
        </p:nvSpPr>
        <p:spPr>
          <a:xfrm>
            <a:off x="1610995" y="509112"/>
            <a:ext cx="8640000" cy="0"/>
          </a:xfrm>
          <a:prstGeom prst="line">
            <a:avLst/>
          </a:prstGeom>
          <a:noFill/>
          <a:ln w="15875">
            <a:solidFill>
              <a:srgbClr val="000000"/>
            </a:solidFill>
            <a:prstDash val="sysDot"/>
            <a:headEnd type="none"/>
            <a:tailEnd type="none"/>
          </a:ln>
        </p:spPr>
      </p:sp>
      <p:sp>
        <p:nvSpPr>
          <p:cNvPr id="18" name="Shape 12"/>
          <p:cNvSpPr/>
          <p:nvPr/>
        </p:nvSpPr>
        <p:spPr>
          <a:xfrm>
            <a:off x="2355215" y="6550025"/>
            <a:ext cx="8894445" cy="0"/>
          </a:xfrm>
          <a:prstGeom prst="line">
            <a:avLst/>
          </a:prstGeom>
          <a:noFill/>
          <a:ln w="15875">
            <a:solidFill>
              <a:srgbClr val="000000"/>
            </a:solidFill>
            <a:prstDash val="sysDot"/>
            <a:headEnd type="none"/>
            <a:tailEnd type="none"/>
          </a:ln>
        </p:spPr>
      </p:sp>
      <p:sp>
        <p:nvSpPr>
          <p:cNvPr id="19" name="Shape 13"/>
          <p:cNvSpPr/>
          <p:nvPr/>
        </p:nvSpPr>
        <p:spPr>
          <a:xfrm>
            <a:off x="11774805" y="1237615"/>
            <a:ext cx="0" cy="4104005"/>
          </a:xfrm>
          <a:prstGeom prst="line">
            <a:avLst/>
          </a:prstGeom>
          <a:noFill/>
          <a:ln w="19050">
            <a:solidFill>
              <a:srgbClr val="000000"/>
            </a:solidFill>
            <a:prstDash val="solid"/>
            <a:headEnd type="none"/>
            <a:tailEnd type="none"/>
          </a:ln>
        </p:spPr>
      </p:sp>
      <p:sp>
        <p:nvSpPr>
          <p:cNvPr id="20" name="Shape 14"/>
          <p:cNvSpPr/>
          <p:nvPr/>
        </p:nvSpPr>
        <p:spPr>
          <a:xfrm flipV="1">
            <a:off x="586105" y="2072640"/>
            <a:ext cx="0" cy="4104005"/>
          </a:xfrm>
          <a:prstGeom prst="line">
            <a:avLst/>
          </a:prstGeom>
          <a:noFill/>
          <a:ln w="19050">
            <a:solidFill>
              <a:srgbClr val="000000"/>
            </a:solidFill>
            <a:prstDash val="solid"/>
            <a:headEnd type="none"/>
            <a:tailEnd type="none"/>
          </a:ln>
        </p:spPr>
      </p:sp>
      <p:pic>
        <p:nvPicPr>
          <p:cNvPr id="21" name="Image 4" descr="https://kimi-img.moonshot.cn/pub/slides/slides_tmpl/image/25-08-27-20:02:52-d2nf7r18bjvh7rlj07v0.png"/>
          <p:cNvPicPr>
            <a:picLocks noChangeAspect="1"/>
          </p:cNvPicPr>
          <p:nvPr/>
        </p:nvPicPr>
        <p:blipFill>
          <a:blip r:embed="rId6"/>
          <a:stretch>
            <a:fillRect/>
          </a:stretch>
        </p:blipFill>
        <p:spPr>
          <a:xfrm>
            <a:off x="551180" y="337820"/>
            <a:ext cx="902335" cy="298450"/>
          </a:xfrm>
          <a:prstGeom prst="rect">
            <a:avLst/>
          </a:prstGeom>
        </p:spPr>
      </p:pic>
      <p:pic>
        <p:nvPicPr>
          <p:cNvPr id="22" name="Image 5" descr="https://kimi-img.moonshot.cn/pub/slides/slides_tmpl/image/25-08-27-20:02:52-d2nf7r18bjvh7rlj07ug.png"/>
          <p:cNvPicPr>
            <a:picLocks noChangeAspect="1"/>
          </p:cNvPicPr>
          <p:nvPr/>
        </p:nvPicPr>
        <p:blipFill>
          <a:blip r:embed="rId7"/>
          <a:stretch>
            <a:fillRect/>
          </a:stretch>
        </p:blipFill>
        <p:spPr>
          <a:xfrm>
            <a:off x="10459720" y="354330"/>
            <a:ext cx="1334770" cy="304800"/>
          </a:xfrm>
          <a:prstGeom prst="rect">
            <a:avLst/>
          </a:prstGeom>
        </p:spPr>
      </p:pic>
      <p:pic>
        <p:nvPicPr>
          <p:cNvPr id="23" name="Image 6" descr="https://kimi-img.moonshot.cn/pub/slides/slides_tmpl/image/25-08-27-20:02:53-d2nf7r98bjvh7rlj080g.png"/>
          <p:cNvPicPr>
            <a:picLocks noChangeAspect="1"/>
          </p:cNvPicPr>
          <p:nvPr/>
        </p:nvPicPr>
        <p:blipFill>
          <a:blip r:embed="rId8"/>
          <a:stretch>
            <a:fillRect/>
          </a:stretch>
        </p:blipFill>
        <p:spPr>
          <a:xfrm>
            <a:off x="457200" y="1196340"/>
            <a:ext cx="207010" cy="719455"/>
          </a:xfrm>
          <a:prstGeom prst="rect">
            <a:avLst/>
          </a:prstGeom>
        </p:spPr>
      </p:pic>
      <p:pic>
        <p:nvPicPr>
          <p:cNvPr id="24" name="Image 7" descr="https://kimi-img.moonshot.cn/pub/slides/slides_tmpl/image/25-08-27-20:02:53-d2nf7r98bjvh7rlj080g.png"/>
          <p:cNvPicPr>
            <a:picLocks noChangeAspect="1"/>
          </p:cNvPicPr>
          <p:nvPr/>
        </p:nvPicPr>
        <p:blipFill>
          <a:blip r:embed="rId8"/>
          <a:stretch>
            <a:fillRect/>
          </a:stretch>
        </p:blipFill>
        <p:spPr>
          <a:xfrm>
            <a:off x="11654790" y="5469890"/>
            <a:ext cx="207010" cy="719455"/>
          </a:xfrm>
          <a:prstGeom prst="rect">
            <a:avLst/>
          </a:prstGeom>
        </p:spPr>
      </p:pic>
      <p:pic>
        <p:nvPicPr>
          <p:cNvPr id="25" name="Image 8" descr="https://kimi-img.moonshot.cn/pub/slides/slides_tmpl/image/25-08-27-20:02:53-d2nf7r98bjvh7rlj0800.png"/>
          <p:cNvPicPr>
            <a:picLocks noChangeAspect="1"/>
          </p:cNvPicPr>
          <p:nvPr/>
        </p:nvPicPr>
        <p:blipFill>
          <a:blip r:embed="rId9"/>
          <a:stretch>
            <a:fillRect/>
          </a:stretch>
        </p:blipFill>
        <p:spPr>
          <a:xfrm>
            <a:off x="9287510" y="4267835"/>
            <a:ext cx="1456690" cy="1840865"/>
          </a:xfrm>
          <a:prstGeom prst="rect">
            <a:avLst/>
          </a:prstGeom>
        </p:spPr>
      </p:pic>
      <p:pic>
        <p:nvPicPr>
          <p:cNvPr id="26" name="Image 9" descr="https://kimi-img.moonshot.cn/pub/slides/slides_tmpl/image/25-08-27-20:02:52-d2nf7r18bjvh7rlj07ug.png"/>
          <p:cNvPicPr>
            <a:picLocks noChangeAspect="1"/>
          </p:cNvPicPr>
          <p:nvPr/>
        </p:nvPicPr>
        <p:blipFill>
          <a:blip r:embed="rId7"/>
          <a:stretch>
            <a:fillRect/>
          </a:stretch>
        </p:blipFill>
        <p:spPr>
          <a:xfrm>
            <a:off x="771525" y="6377305"/>
            <a:ext cx="1334770" cy="304800"/>
          </a:xfrm>
          <a:prstGeom prst="rect">
            <a:avLst/>
          </a:prstGeom>
        </p:spPr>
      </p:pic>
      <p:pic>
        <p:nvPicPr>
          <p:cNvPr id="27" name="Image 10" descr="https://kimi-img.moonshot.cn/pub/slides/slides_tmpl/image/25-08-27-20:02:53-d2nf7r98bjvh7rlj0810.png"/>
          <p:cNvPicPr>
            <a:picLocks noChangeAspect="1"/>
          </p:cNvPicPr>
          <p:nvPr/>
        </p:nvPicPr>
        <p:blipFill>
          <a:blip r:embed="rId10"/>
          <a:stretch>
            <a:fillRect/>
          </a:stretch>
        </p:blipFill>
        <p:spPr>
          <a:xfrm>
            <a:off x="6191885" y="2215515"/>
            <a:ext cx="3242945" cy="1664335"/>
          </a:xfrm>
          <a:prstGeom prst="rect">
            <a:avLst/>
          </a:prstGeom>
        </p:spPr>
      </p:pic>
      <p:pic>
        <p:nvPicPr>
          <p:cNvPr id="28" name="Image 11" descr="https://kimi-img.moonshot.cn/pub/slides/slides_tmpl/image/25-08-27-20:02:53-d2nf7r98bjvh7rlj0820.png"/>
          <p:cNvPicPr>
            <a:picLocks noChangeAspect="1"/>
          </p:cNvPicPr>
          <p:nvPr/>
        </p:nvPicPr>
        <p:blipFill>
          <a:blip r:embed="rId11"/>
          <a:stretch>
            <a:fillRect/>
          </a:stretch>
        </p:blipFill>
        <p:spPr>
          <a:xfrm>
            <a:off x="11474450" y="6356350"/>
            <a:ext cx="353695" cy="29845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cg.png"/>
          <p:cNvPicPr>
            <a:picLocks noChangeAspect="1"/>
          </p:cNvPicPr>
          <p:nvPr/>
        </p:nvPicPr>
        <p:blipFill>
          <a:blip r:embed="rId3"/>
          <a:srcRect l="22" r="22"/>
          <a:stretch/>
        </p:blipFill>
        <p:spPr>
          <a:xfrm>
            <a:off x="568325" y="925830"/>
            <a:ext cx="11619865" cy="5927725"/>
          </a:xfrm>
          <a:prstGeom prst="rect">
            <a:avLst/>
          </a:prstGeom>
        </p:spPr>
      </p:pic>
      <p:pic>
        <p:nvPicPr>
          <p:cNvPr id="3" name="Image 1" descr="https://kimi-img.moonshot.cn/pub/slides/slides_tmpl/image/25-08-27-20:02:54-d2nf7rh8bjvh7rlj088g.png"/>
          <p:cNvPicPr>
            <a:picLocks noChangeAspect="1"/>
          </p:cNvPicPr>
          <p:nvPr/>
        </p:nvPicPr>
        <p:blipFill>
          <a:blip r:embed="rId4"/>
          <a:stretch>
            <a:fillRect/>
          </a:stretch>
        </p:blipFill>
        <p:spPr>
          <a:xfrm>
            <a:off x="6254115" y="1260475"/>
            <a:ext cx="25400" cy="584200"/>
          </a:xfrm>
          <a:prstGeom prst="rect">
            <a:avLst/>
          </a:prstGeom>
        </p:spPr>
      </p:pic>
      <p:pic>
        <p:nvPicPr>
          <p:cNvPr id="4" name="Image 2" descr="https://kimi-img.moonshot.cn/pub/slides/slides_tmpl/image/25-08-27-20:02:54-d2nf7rh8bjvh7rlj088g.png"/>
          <p:cNvPicPr>
            <a:picLocks noChangeAspect="1"/>
          </p:cNvPicPr>
          <p:nvPr/>
        </p:nvPicPr>
        <p:blipFill>
          <a:blip r:embed="rId4"/>
          <a:stretch>
            <a:fillRect/>
          </a:stretch>
        </p:blipFill>
        <p:spPr>
          <a:xfrm>
            <a:off x="6254115" y="2096135"/>
            <a:ext cx="25400" cy="584200"/>
          </a:xfrm>
          <a:prstGeom prst="rect">
            <a:avLst/>
          </a:prstGeom>
        </p:spPr>
      </p:pic>
      <p:pic>
        <p:nvPicPr>
          <p:cNvPr id="5" name="Image 3" descr="https://kimi-img.moonshot.cn/pub/slides/slides_tmpl/image/25-08-27-20:02:54-d2nf7rh8bjvh7rlj088g.png"/>
          <p:cNvPicPr>
            <a:picLocks noChangeAspect="1"/>
          </p:cNvPicPr>
          <p:nvPr/>
        </p:nvPicPr>
        <p:blipFill>
          <a:blip r:embed="rId4"/>
          <a:stretch>
            <a:fillRect/>
          </a:stretch>
        </p:blipFill>
        <p:spPr>
          <a:xfrm>
            <a:off x="6254115" y="2931795"/>
            <a:ext cx="25400" cy="584200"/>
          </a:xfrm>
          <a:prstGeom prst="rect">
            <a:avLst/>
          </a:prstGeom>
        </p:spPr>
      </p:pic>
      <p:pic>
        <p:nvPicPr>
          <p:cNvPr id="6" name="Image 4" descr="https://kimi-img.moonshot.cn/pub/slides/slides_tmpl/image/25-08-27-20:02:54-d2nf7rh8bjvh7rlj088g.png"/>
          <p:cNvPicPr>
            <a:picLocks noChangeAspect="1"/>
          </p:cNvPicPr>
          <p:nvPr/>
        </p:nvPicPr>
        <p:blipFill>
          <a:blip r:embed="rId4"/>
          <a:stretch>
            <a:fillRect/>
          </a:stretch>
        </p:blipFill>
        <p:spPr>
          <a:xfrm>
            <a:off x="6254115" y="3767455"/>
            <a:ext cx="25400" cy="584200"/>
          </a:xfrm>
          <a:prstGeom prst="rect">
            <a:avLst/>
          </a:prstGeom>
        </p:spPr>
      </p:pic>
      <p:pic>
        <p:nvPicPr>
          <p:cNvPr id="7" name="Image 5" descr="https://kimi-img.moonshot.cn/pub/slides/slides_tmpl/image/25-08-27-20:02:54-d2nf7rh8bjvh7rlj088g.png"/>
          <p:cNvPicPr>
            <a:picLocks noChangeAspect="1"/>
          </p:cNvPicPr>
          <p:nvPr/>
        </p:nvPicPr>
        <p:blipFill>
          <a:blip r:embed="rId4"/>
          <a:stretch>
            <a:fillRect/>
          </a:stretch>
        </p:blipFill>
        <p:spPr>
          <a:xfrm>
            <a:off x="6254115" y="4603115"/>
            <a:ext cx="25400" cy="584200"/>
          </a:xfrm>
          <a:prstGeom prst="rect">
            <a:avLst/>
          </a:prstGeom>
        </p:spPr>
      </p:pic>
      <p:pic>
        <p:nvPicPr>
          <p:cNvPr id="8" name="Image 6" descr="https://kimi-img.moonshot.cn/pub/slides/slides_tmpl/image/25-08-27-20:02:54-d2nf7rh8bjvh7rlj088g.png"/>
          <p:cNvPicPr>
            <a:picLocks noChangeAspect="1"/>
          </p:cNvPicPr>
          <p:nvPr/>
        </p:nvPicPr>
        <p:blipFill>
          <a:blip r:embed="rId4"/>
          <a:stretch>
            <a:fillRect/>
          </a:stretch>
        </p:blipFill>
        <p:spPr>
          <a:xfrm>
            <a:off x="6254115" y="5438775"/>
            <a:ext cx="25400" cy="584200"/>
          </a:xfrm>
          <a:prstGeom prst="rect">
            <a:avLst/>
          </a:prstGeom>
        </p:spPr>
      </p:pic>
      <p:pic>
        <p:nvPicPr>
          <p:cNvPr id="9" name="Image 7" descr="https://kimi-img.moonshot.cn/pub/slides/slides_tmpl/image/25-08-27-20:02:54-d2nf7rh8bjvh7rlj089g.png"/>
          <p:cNvPicPr>
            <a:picLocks noChangeAspect="1"/>
          </p:cNvPicPr>
          <p:nvPr/>
        </p:nvPicPr>
        <p:blipFill>
          <a:blip r:embed="rId5"/>
          <a:stretch>
            <a:fillRect/>
          </a:stretch>
        </p:blipFill>
        <p:spPr>
          <a:xfrm>
            <a:off x="771525" y="2096135"/>
            <a:ext cx="3980815" cy="2121535"/>
          </a:xfrm>
          <a:prstGeom prst="rect">
            <a:avLst/>
          </a:prstGeom>
        </p:spPr>
      </p:pic>
      <p:pic>
        <p:nvPicPr>
          <p:cNvPr id="10" name="Image 8" descr="https://kimi-img.moonshot.cn/pub/slides/slides_tmpl/image/25-08-27-20:02:53-d2nf7r98bjvh7rlj080g.png"/>
          <p:cNvPicPr>
            <a:picLocks noChangeAspect="1"/>
          </p:cNvPicPr>
          <p:nvPr/>
        </p:nvPicPr>
        <p:blipFill>
          <a:blip r:embed="rId6"/>
          <a:stretch>
            <a:fillRect/>
          </a:stretch>
        </p:blipFill>
        <p:spPr>
          <a:xfrm>
            <a:off x="444500" y="344805"/>
            <a:ext cx="170180" cy="592455"/>
          </a:xfrm>
          <a:prstGeom prst="rect">
            <a:avLst/>
          </a:prstGeom>
        </p:spPr>
      </p:pic>
      <p:pic>
        <p:nvPicPr>
          <p:cNvPr id="11" name="Image 9" descr="https://kimi-img.moonshot.cn/pub/slides/slides_tmpl/image/25-08-27-20:02:52-d2nf7r18bjvh7rlj07ug.png"/>
          <p:cNvPicPr>
            <a:picLocks noChangeAspect="1"/>
          </p:cNvPicPr>
          <p:nvPr/>
        </p:nvPicPr>
        <p:blipFill>
          <a:blip r:embed="rId7"/>
          <a:stretch>
            <a:fillRect/>
          </a:stretch>
        </p:blipFill>
        <p:spPr>
          <a:xfrm>
            <a:off x="771525" y="6377305"/>
            <a:ext cx="1334770" cy="304800"/>
          </a:xfrm>
          <a:prstGeom prst="rect">
            <a:avLst/>
          </a:prstGeom>
        </p:spPr>
      </p:pic>
      <p:sp>
        <p:nvSpPr>
          <p:cNvPr id="12" name="Text 0"/>
          <p:cNvSpPr/>
          <p:nvPr/>
        </p:nvSpPr>
        <p:spPr>
          <a:xfrm>
            <a:off x="796290" y="2680335"/>
            <a:ext cx="3617595" cy="539115"/>
          </a:xfrm>
          <a:prstGeom prst="rect">
            <a:avLst/>
          </a:prstGeom>
          <a:noFill/>
          <a:ln/>
        </p:spPr>
        <p:txBody>
          <a:bodyPr wrap="square" lIns="0" tIns="0" rIns="0" bIns="0" rtlCol="0" anchor="ctr"/>
          <a:lstStyle/>
          <a:p>
            <a:pPr algn="ctr">
              <a:lnSpc>
                <a:spcPct val="100000"/>
              </a:lnSpc>
            </a:pPr>
            <a:r>
              <a:rPr lang="en-US" sz="4800" b="1" dirty="0">
                <a:solidFill>
                  <a:srgbClr val="000000"/>
                </a:solidFill>
                <a:latin typeface="Microsoft Sans Serif" pitchFamily="34" charset="0"/>
                <a:ea typeface="Microsoft Sans Serif" pitchFamily="34" charset="-122"/>
                <a:cs typeface="Microsoft Sans Serif" pitchFamily="34" charset="-120"/>
              </a:rPr>
              <a:t>CONTENTS</a:t>
            </a:r>
            <a:endParaRPr lang="en-US" sz="1600" dirty="0"/>
          </a:p>
        </p:txBody>
      </p:sp>
      <p:sp>
        <p:nvSpPr>
          <p:cNvPr id="13" name="Text 1"/>
          <p:cNvSpPr/>
          <p:nvPr/>
        </p:nvSpPr>
        <p:spPr>
          <a:xfrm>
            <a:off x="5268595" y="120332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01</a:t>
            </a:r>
            <a:endParaRPr lang="en-US" sz="1600" dirty="0"/>
          </a:p>
        </p:txBody>
      </p:sp>
      <p:sp>
        <p:nvSpPr>
          <p:cNvPr id="14" name="Text 2"/>
          <p:cNvSpPr/>
          <p:nvPr/>
        </p:nvSpPr>
        <p:spPr>
          <a:xfrm>
            <a:off x="6335395" y="1308735"/>
            <a:ext cx="55473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ML Foundations</a:t>
            </a:r>
            <a:endParaRPr lang="en-US" sz="1600" dirty="0"/>
          </a:p>
        </p:txBody>
      </p:sp>
      <p:sp>
        <p:nvSpPr>
          <p:cNvPr id="15" name="Text 3"/>
          <p:cNvSpPr/>
          <p:nvPr/>
        </p:nvSpPr>
        <p:spPr>
          <a:xfrm>
            <a:off x="5268595" y="203898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02</a:t>
            </a:r>
            <a:endParaRPr lang="en-US" sz="1600" dirty="0"/>
          </a:p>
        </p:txBody>
      </p:sp>
      <p:sp>
        <p:nvSpPr>
          <p:cNvPr id="16" name="Text 4"/>
          <p:cNvSpPr/>
          <p:nvPr/>
        </p:nvSpPr>
        <p:spPr>
          <a:xfrm>
            <a:off x="6335395" y="2144395"/>
            <a:ext cx="55981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Industry Impact</a:t>
            </a:r>
            <a:endParaRPr lang="en-US" sz="1600" dirty="0"/>
          </a:p>
        </p:txBody>
      </p:sp>
      <p:sp>
        <p:nvSpPr>
          <p:cNvPr id="17" name="Text 5"/>
          <p:cNvSpPr/>
          <p:nvPr/>
        </p:nvSpPr>
        <p:spPr>
          <a:xfrm>
            <a:off x="5268595" y="287464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03</a:t>
            </a:r>
            <a:endParaRPr lang="en-US" sz="1600" dirty="0"/>
          </a:p>
        </p:txBody>
      </p:sp>
      <p:sp>
        <p:nvSpPr>
          <p:cNvPr id="18" name="Text 6"/>
          <p:cNvSpPr/>
          <p:nvPr/>
        </p:nvSpPr>
        <p:spPr>
          <a:xfrm>
            <a:off x="6335395" y="2980055"/>
            <a:ext cx="55473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Zero-Code Playground</a:t>
            </a:r>
            <a:endParaRPr lang="en-US" sz="1600" dirty="0"/>
          </a:p>
        </p:txBody>
      </p:sp>
      <p:sp>
        <p:nvSpPr>
          <p:cNvPr id="19" name="Text 7"/>
          <p:cNvSpPr/>
          <p:nvPr/>
        </p:nvSpPr>
        <p:spPr>
          <a:xfrm>
            <a:off x="5268595" y="371030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04</a:t>
            </a:r>
            <a:endParaRPr lang="en-US" sz="1600" dirty="0"/>
          </a:p>
        </p:txBody>
      </p:sp>
      <p:sp>
        <p:nvSpPr>
          <p:cNvPr id="20" name="Text 8"/>
          <p:cNvSpPr/>
          <p:nvPr/>
        </p:nvSpPr>
        <p:spPr>
          <a:xfrm>
            <a:off x="6335395" y="3815715"/>
            <a:ext cx="55981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Ethics Lens</a:t>
            </a:r>
            <a:endParaRPr lang="en-US" sz="1600" dirty="0"/>
          </a:p>
        </p:txBody>
      </p:sp>
      <p:sp>
        <p:nvSpPr>
          <p:cNvPr id="21" name="Text 9"/>
          <p:cNvSpPr/>
          <p:nvPr/>
        </p:nvSpPr>
        <p:spPr>
          <a:xfrm>
            <a:off x="5268595" y="454596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05</a:t>
            </a:r>
            <a:endParaRPr lang="en-US" sz="1600" dirty="0"/>
          </a:p>
        </p:txBody>
      </p:sp>
      <p:sp>
        <p:nvSpPr>
          <p:cNvPr id="22" name="Text 10"/>
          <p:cNvSpPr/>
          <p:nvPr/>
        </p:nvSpPr>
        <p:spPr>
          <a:xfrm>
            <a:off x="6335395" y="4651375"/>
            <a:ext cx="55473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Capstone Sprint</a:t>
            </a:r>
            <a:endParaRPr lang="en-US" sz="1600" dirty="0"/>
          </a:p>
        </p:txBody>
      </p:sp>
      <p:sp>
        <p:nvSpPr>
          <p:cNvPr id="23" name="Text 11"/>
          <p:cNvSpPr/>
          <p:nvPr/>
        </p:nvSpPr>
        <p:spPr>
          <a:xfrm>
            <a:off x="5268595" y="5381625"/>
            <a:ext cx="1041400" cy="490934"/>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crosoft Sans Serif" pitchFamily="34" charset="0"/>
                <a:ea typeface="Microsoft Sans Serif" pitchFamily="34" charset="-122"/>
                <a:cs typeface="Microsoft Sans Serif" pitchFamily="34" charset="-120"/>
              </a:rPr>
              <a:t>06</a:t>
            </a:r>
            <a:endParaRPr lang="en-US" sz="1600" dirty="0"/>
          </a:p>
        </p:txBody>
      </p:sp>
      <p:sp>
        <p:nvSpPr>
          <p:cNvPr id="24" name="Text 12"/>
          <p:cNvSpPr/>
          <p:nvPr/>
        </p:nvSpPr>
        <p:spPr>
          <a:xfrm>
            <a:off x="6335395" y="5487035"/>
            <a:ext cx="5598160" cy="361553"/>
          </a:xfrm>
          <a:prstGeom prst="rect">
            <a:avLst/>
          </a:prstGeom>
          <a:noFill/>
          <a:ln/>
        </p:spPr>
        <p:txBody>
          <a:bodyPr wrap="square" lIns="91440" tIns="45720" rIns="91440" bIns="45720" rtlCol="0" anchor="t">
            <a:spAutoFit/>
          </a:bodyPr>
          <a:lstStyle/>
          <a:p>
            <a:pPr>
              <a:lnSpc>
                <a:spcPct val="100000"/>
              </a:lnSpc>
            </a:pPr>
            <a:r>
              <a:rPr lang="en-US" sz="2400" b="1" dirty="0">
                <a:solidFill>
                  <a:srgbClr val="404040"/>
                </a:solidFill>
                <a:latin typeface="Microsoft Sans Serif" pitchFamily="34" charset="0"/>
                <a:ea typeface="Microsoft Sans Serif" pitchFamily="34" charset="-122"/>
                <a:cs typeface="Microsoft Sans Serif" pitchFamily="34" charset="-120"/>
              </a:rPr>
              <a:t>Wrap-Up</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01</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ML Foundations</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1139190" y="1641475"/>
            <a:ext cx="3119120" cy="4194175"/>
          </a:xfrm>
          <a:prstGeom prst="roundRect">
            <a:avLst>
              <a:gd name="adj" fmla="val 0"/>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5" name="Text 1"/>
          <p:cNvSpPr/>
          <p:nvPr/>
        </p:nvSpPr>
        <p:spPr>
          <a:xfrm>
            <a:off x="1139190" y="1641475"/>
            <a:ext cx="3119120" cy="419417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1151255" y="5075555"/>
            <a:ext cx="3107690" cy="761365"/>
          </a:xfrm>
          <a:prstGeom prst="rtTriangle">
            <a:avLst/>
          </a:prstGeom>
          <a:solidFill>
            <a:srgbClr val="92D050"/>
          </a:solidFill>
          <a:ln/>
        </p:spPr>
      </p:sp>
      <p:sp>
        <p:nvSpPr>
          <p:cNvPr id="7" name="Text 3"/>
          <p:cNvSpPr/>
          <p:nvPr/>
        </p:nvSpPr>
        <p:spPr>
          <a:xfrm>
            <a:off x="1151255" y="5075555"/>
            <a:ext cx="3107690" cy="76136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flipH="1">
            <a:off x="1150620" y="4772025"/>
            <a:ext cx="3107690" cy="1064895"/>
          </a:xfrm>
          <a:prstGeom prst="rtTriangle">
            <a:avLst/>
          </a:prstGeom>
          <a:solidFill>
            <a:srgbClr val="92D050"/>
          </a:solidFill>
          <a:ln/>
        </p:spPr>
      </p:sp>
      <p:sp>
        <p:nvSpPr>
          <p:cNvPr id="9" name="Text 5"/>
          <p:cNvSpPr/>
          <p:nvPr/>
        </p:nvSpPr>
        <p:spPr>
          <a:xfrm>
            <a:off x="1150620" y="4772025"/>
            <a:ext cx="3107690" cy="106489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4580890" y="1641475"/>
            <a:ext cx="3119120" cy="4194175"/>
          </a:xfrm>
          <a:prstGeom prst="roundRect">
            <a:avLst>
              <a:gd name="adj" fmla="val 0"/>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1" name="Text 7"/>
          <p:cNvSpPr/>
          <p:nvPr/>
        </p:nvSpPr>
        <p:spPr>
          <a:xfrm>
            <a:off x="4580890" y="1641475"/>
            <a:ext cx="3119120" cy="419417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4592955" y="5075555"/>
            <a:ext cx="3107690" cy="761365"/>
          </a:xfrm>
          <a:prstGeom prst="rtTriangle">
            <a:avLst/>
          </a:prstGeom>
          <a:solidFill>
            <a:srgbClr val="92D050"/>
          </a:solidFill>
          <a:ln/>
        </p:spPr>
      </p:sp>
      <p:sp>
        <p:nvSpPr>
          <p:cNvPr id="13" name="Text 9"/>
          <p:cNvSpPr/>
          <p:nvPr/>
        </p:nvSpPr>
        <p:spPr>
          <a:xfrm>
            <a:off x="4592955" y="5075555"/>
            <a:ext cx="3107690" cy="76136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flipH="1">
            <a:off x="4592320" y="4772025"/>
            <a:ext cx="3107690" cy="1064895"/>
          </a:xfrm>
          <a:prstGeom prst="rtTriangle">
            <a:avLst/>
          </a:prstGeom>
          <a:solidFill>
            <a:srgbClr val="92D050"/>
          </a:solidFill>
          <a:ln/>
        </p:spPr>
      </p:sp>
      <p:sp>
        <p:nvSpPr>
          <p:cNvPr id="15" name="Text 11"/>
          <p:cNvSpPr/>
          <p:nvPr/>
        </p:nvSpPr>
        <p:spPr>
          <a:xfrm>
            <a:off x="4592320" y="4772025"/>
            <a:ext cx="3107690" cy="106489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8022590" y="1641475"/>
            <a:ext cx="3119120" cy="4194175"/>
          </a:xfrm>
          <a:prstGeom prst="roundRect">
            <a:avLst>
              <a:gd name="adj" fmla="val 0"/>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7" name="Text 13"/>
          <p:cNvSpPr/>
          <p:nvPr/>
        </p:nvSpPr>
        <p:spPr>
          <a:xfrm>
            <a:off x="8022590" y="1641475"/>
            <a:ext cx="3119120" cy="419417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4"/>
          <p:cNvSpPr/>
          <p:nvPr/>
        </p:nvSpPr>
        <p:spPr>
          <a:xfrm>
            <a:off x="8034655" y="5075555"/>
            <a:ext cx="3107690" cy="761365"/>
          </a:xfrm>
          <a:prstGeom prst="rtTriangle">
            <a:avLst/>
          </a:prstGeom>
          <a:solidFill>
            <a:srgbClr val="92D050"/>
          </a:solidFill>
          <a:ln/>
        </p:spPr>
      </p:sp>
      <p:sp>
        <p:nvSpPr>
          <p:cNvPr id="19" name="Text 15"/>
          <p:cNvSpPr/>
          <p:nvPr/>
        </p:nvSpPr>
        <p:spPr>
          <a:xfrm>
            <a:off x="8034655" y="5075555"/>
            <a:ext cx="3107690" cy="76136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6"/>
          <p:cNvSpPr/>
          <p:nvPr/>
        </p:nvSpPr>
        <p:spPr>
          <a:xfrm flipH="1">
            <a:off x="8034020" y="4772025"/>
            <a:ext cx="3107690" cy="1064895"/>
          </a:xfrm>
          <a:prstGeom prst="rtTriangle">
            <a:avLst/>
          </a:prstGeom>
          <a:solidFill>
            <a:srgbClr val="92D050"/>
          </a:solidFill>
          <a:ln/>
        </p:spPr>
      </p:sp>
      <p:sp>
        <p:nvSpPr>
          <p:cNvPr id="21" name="Text 17"/>
          <p:cNvSpPr/>
          <p:nvPr/>
        </p:nvSpPr>
        <p:spPr>
          <a:xfrm>
            <a:off x="8034020" y="4772025"/>
            <a:ext cx="3107690" cy="1064895"/>
          </a:xfrm>
          <a:prstGeom prst="rect">
            <a:avLst/>
          </a:prstGeom>
          <a:noFill/>
          <a:ln/>
        </p:spPr>
        <p:txBody>
          <a:bodyPr wrap="square" lIns="45720" tIns="91440" rIns="91440" bIns="45720" rtlCol="0" anchor="ctr"/>
          <a:lstStyle/>
          <a:p>
            <a:pPr>
              <a:lnSpc>
                <a:spcPct val="100000"/>
              </a:lnSpc>
            </a:pPr>
            <a:endParaRPr lang="en-US" sz="1600" dirty="0"/>
          </a:p>
        </p:txBody>
      </p:sp>
      <p:sp>
        <p:nvSpPr>
          <p:cNvPr id="22" name="Text 18"/>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From Rules to Self-Learning Systems</a:t>
            </a:r>
            <a:endParaRPr lang="en-US" sz="1600" dirty="0"/>
          </a:p>
        </p:txBody>
      </p:sp>
      <p:sp>
        <p:nvSpPr>
          <p:cNvPr id="23" name="Text 19"/>
          <p:cNvSpPr/>
          <p:nvPr/>
        </p:nvSpPr>
        <p:spPr>
          <a:xfrm>
            <a:off x="1365885" y="1803400"/>
            <a:ext cx="2655570" cy="587772"/>
          </a:xfrm>
          <a:prstGeom prst="rect">
            <a:avLst/>
          </a:prstGeom>
          <a:noFill/>
          <a:ln/>
        </p:spPr>
        <p:txBody>
          <a:bodyPr wrap="square" lIns="91440" tIns="45720" rIns="91440" bIns="45720" rtlCol="0" anchor="t">
            <a:spAutoFit/>
          </a:bodyPr>
          <a:lstStyle/>
          <a:p>
            <a:pPr>
              <a:lnSpc>
                <a:spcPct val="100000"/>
              </a:lnSpc>
            </a:pPr>
            <a:r>
              <a:rPr lang="en-US" sz="1800" b="1" dirty="0">
                <a:solidFill>
                  <a:srgbClr val="6EAA2E"/>
                </a:solidFill>
                <a:latin typeface="Microsoft Sans Serif" pitchFamily="34" charset="0"/>
                <a:ea typeface="Microsoft Sans Serif" pitchFamily="34" charset="-122"/>
                <a:cs typeface="Microsoft Sans Serif" pitchFamily="34" charset="-120"/>
              </a:rPr>
              <a:t>Definition of Machine Learning</a:t>
            </a:r>
            <a:endParaRPr lang="en-US" sz="1600" dirty="0"/>
          </a:p>
        </p:txBody>
      </p:sp>
      <p:sp>
        <p:nvSpPr>
          <p:cNvPr id="24" name="Text 20"/>
          <p:cNvSpPr/>
          <p:nvPr/>
        </p:nvSpPr>
        <p:spPr>
          <a:xfrm>
            <a:off x="1346835" y="2470785"/>
            <a:ext cx="2694940" cy="2389584"/>
          </a:xfrm>
          <a:prstGeom prst="rect">
            <a:avLst/>
          </a:prstGeom>
          <a:noFill/>
          <a:ln/>
        </p:spPr>
        <p:txBody>
          <a:bodyPr wrap="square" lIns="91440" tIns="45720" rIns="91440" bIns="45720" rtlCol="0" anchor="t">
            <a:spAutoFit/>
          </a:bodyPr>
          <a:lstStyle/>
          <a:p>
            <a:pPr>
              <a:lnSpc>
                <a:spcPct val="140000"/>
              </a:lnSpc>
            </a:pPr>
            <a:r>
              <a:rPr lang="en-US" sz="1400" dirty="0">
                <a:solidFill>
                  <a:srgbClr val="000000"/>
                </a:solidFill>
                <a:latin typeface="Microsoft Sans Serif" pitchFamily="34" charset="0"/>
                <a:ea typeface="Microsoft Sans Serif" pitchFamily="34" charset="-122"/>
                <a:cs typeface="Microsoft Sans Serif" pitchFamily="34" charset="-120"/>
              </a:rPr>
              <a:t>Machine Learning is a subset of AI that enables computers to learn from data and make decisions without explicit programming. It adapts and improves as it processes more data, unlike traditional rule-based software.</a:t>
            </a:r>
            <a:endParaRPr lang="en-US" sz="1600" dirty="0"/>
          </a:p>
        </p:txBody>
      </p:sp>
      <p:sp>
        <p:nvSpPr>
          <p:cNvPr id="25" name="Text 21"/>
          <p:cNvSpPr/>
          <p:nvPr/>
        </p:nvSpPr>
        <p:spPr>
          <a:xfrm>
            <a:off x="4807585" y="1803400"/>
            <a:ext cx="2655570" cy="587772"/>
          </a:xfrm>
          <a:prstGeom prst="rect">
            <a:avLst/>
          </a:prstGeom>
          <a:noFill/>
          <a:ln/>
        </p:spPr>
        <p:txBody>
          <a:bodyPr wrap="square" lIns="91440" tIns="45720" rIns="91440" bIns="45720" rtlCol="0" anchor="t">
            <a:spAutoFit/>
          </a:bodyPr>
          <a:lstStyle/>
          <a:p>
            <a:pPr>
              <a:lnSpc>
                <a:spcPct val="100000"/>
              </a:lnSpc>
            </a:pPr>
            <a:r>
              <a:rPr lang="en-US" sz="1800" b="1" dirty="0">
                <a:solidFill>
                  <a:srgbClr val="6EAA2E"/>
                </a:solidFill>
                <a:latin typeface="Microsoft Sans Serif" pitchFamily="34" charset="0"/>
                <a:ea typeface="Microsoft Sans Serif" pitchFamily="34" charset="-122"/>
                <a:cs typeface="Microsoft Sans Serif" pitchFamily="34" charset="-120"/>
              </a:rPr>
              <a:t>Examples of Machine Learning</a:t>
            </a:r>
            <a:endParaRPr lang="en-US" sz="1600" dirty="0"/>
          </a:p>
        </p:txBody>
      </p:sp>
      <p:sp>
        <p:nvSpPr>
          <p:cNvPr id="26" name="Text 22"/>
          <p:cNvSpPr/>
          <p:nvPr/>
        </p:nvSpPr>
        <p:spPr>
          <a:xfrm>
            <a:off x="4788535" y="2470785"/>
            <a:ext cx="2694940" cy="2389584"/>
          </a:xfrm>
          <a:prstGeom prst="rect">
            <a:avLst/>
          </a:prstGeom>
          <a:noFill/>
          <a:ln/>
        </p:spPr>
        <p:txBody>
          <a:bodyPr wrap="square" lIns="91440" tIns="45720" rIns="91440" bIns="45720" rtlCol="0" anchor="t">
            <a:spAutoFit/>
          </a:bodyPr>
          <a:lstStyle/>
          <a:p>
            <a:pPr>
              <a:lnSpc>
                <a:spcPct val="140000"/>
              </a:lnSpc>
            </a:pPr>
            <a:r>
              <a:rPr lang="en-US" sz="1400" dirty="0">
                <a:solidFill>
                  <a:srgbClr val="000000"/>
                </a:solidFill>
                <a:latin typeface="Microsoft Sans Serif" pitchFamily="34" charset="0"/>
                <a:ea typeface="Microsoft Sans Serif" pitchFamily="34" charset="-122"/>
                <a:cs typeface="Microsoft Sans Serif" pitchFamily="34" charset="-120"/>
              </a:rPr>
              <a:t>Common applications include spam detection, disease diagnosis, and product recommendations. These tasks leverage classification, regression, clustering, and reinforcement learning techniques.</a:t>
            </a:r>
            <a:endParaRPr lang="en-US" sz="1600" dirty="0"/>
          </a:p>
        </p:txBody>
      </p:sp>
      <p:sp>
        <p:nvSpPr>
          <p:cNvPr id="27" name="Text 23"/>
          <p:cNvSpPr/>
          <p:nvPr/>
        </p:nvSpPr>
        <p:spPr>
          <a:xfrm>
            <a:off x="8249285" y="1803400"/>
            <a:ext cx="2655570" cy="587772"/>
          </a:xfrm>
          <a:prstGeom prst="rect">
            <a:avLst/>
          </a:prstGeom>
          <a:noFill/>
          <a:ln/>
        </p:spPr>
        <p:txBody>
          <a:bodyPr wrap="square" lIns="91440" tIns="45720" rIns="91440" bIns="45720" rtlCol="0" anchor="t">
            <a:spAutoFit/>
          </a:bodyPr>
          <a:lstStyle/>
          <a:p>
            <a:pPr>
              <a:lnSpc>
                <a:spcPct val="100000"/>
              </a:lnSpc>
            </a:pPr>
            <a:r>
              <a:rPr lang="en-US" sz="1800" b="1" dirty="0">
                <a:solidFill>
                  <a:srgbClr val="6EAA2E"/>
                </a:solidFill>
                <a:latin typeface="Microsoft Sans Serif" pitchFamily="34" charset="0"/>
                <a:ea typeface="Microsoft Sans Serif" pitchFamily="34" charset="-122"/>
                <a:cs typeface="Microsoft Sans Serif" pitchFamily="34" charset="-120"/>
              </a:rPr>
              <a:t>Contrast with Traditional Programming</a:t>
            </a:r>
            <a:endParaRPr lang="en-US" sz="1600" dirty="0"/>
          </a:p>
        </p:txBody>
      </p:sp>
      <p:sp>
        <p:nvSpPr>
          <p:cNvPr id="28" name="Text 24"/>
          <p:cNvSpPr/>
          <p:nvPr/>
        </p:nvSpPr>
        <p:spPr>
          <a:xfrm>
            <a:off x="8230235" y="2470785"/>
            <a:ext cx="2694940" cy="2090936"/>
          </a:xfrm>
          <a:prstGeom prst="rect">
            <a:avLst/>
          </a:prstGeom>
          <a:noFill/>
          <a:ln/>
        </p:spPr>
        <p:txBody>
          <a:bodyPr wrap="square" lIns="91440" tIns="45720" rIns="91440" bIns="45720" rtlCol="0" anchor="t">
            <a:spAutoFit/>
          </a:bodyPr>
          <a:lstStyle/>
          <a:p>
            <a:pPr>
              <a:lnSpc>
                <a:spcPct val="140000"/>
              </a:lnSpc>
            </a:pPr>
            <a:r>
              <a:rPr lang="en-US" sz="1400" dirty="0">
                <a:solidFill>
                  <a:srgbClr val="000000"/>
                </a:solidFill>
                <a:latin typeface="Microsoft Sans Serif" pitchFamily="34" charset="0"/>
                <a:ea typeface="Microsoft Sans Serif" pitchFamily="34" charset="-122"/>
                <a:cs typeface="Microsoft Sans Serif" pitchFamily="34" charset="-120"/>
              </a:rPr>
              <a:t>Traditional software follows fixed rules set by developers. ML models learn patterns from data, allowing them to handle complex tasks dynamically and improve over time with more data.</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5813425" y="2110740"/>
            <a:ext cx="5360035" cy="2709545"/>
          </a:xfrm>
          <a:custGeom>
            <a:avLst/>
            <a:gdLst/>
            <a:ahLst/>
            <a:cxnLst/>
            <a:rect l="l" t="t" r="r" b="b"/>
            <a:pathLst>
              <a:path w="5360035" h="2709545">
                <a:moveTo>
                  <a:pt x="4633675" y="2709545"/>
                </a:moveTo>
                <a:lnTo>
                  <a:pt x="0" y="2709545"/>
                </a:lnTo>
                <a:lnTo>
                  <a:pt x="726360" y="0"/>
                </a:lnTo>
                <a:lnTo>
                  <a:pt x="5360035" y="0"/>
                </a:lnTo>
                <a:close/>
              </a:path>
            </a:pathLst>
          </a:custGeom>
          <a:gradFill flip="none" rotWithShape="1">
            <a:gsLst>
              <a:gs pos="0">
                <a:srgbClr val="FFD966">
                  <a:alpha val="0"/>
                </a:srgbClr>
              </a:gs>
              <a:gs pos="20000">
                <a:srgbClr val="FFD966">
                  <a:alpha val="0"/>
                </a:srgbClr>
              </a:gs>
              <a:gs pos="100000">
                <a:srgbClr val="FFD966">
                  <a:alpha val="40000"/>
                </a:srgbClr>
              </a:gs>
            </a:gsLst>
            <a:lin ang="10800000" scaled="1"/>
          </a:gradFill>
          <a:ln/>
        </p:spPr>
      </p:sp>
      <p:sp>
        <p:nvSpPr>
          <p:cNvPr id="5" name="Text 1"/>
          <p:cNvSpPr/>
          <p:nvPr/>
        </p:nvSpPr>
        <p:spPr>
          <a:xfrm>
            <a:off x="5813425" y="2110740"/>
            <a:ext cx="5360035" cy="270954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5921375" y="2241550"/>
            <a:ext cx="5360035" cy="2709545"/>
          </a:xfrm>
          <a:custGeom>
            <a:avLst/>
            <a:gdLst/>
            <a:ahLst/>
            <a:cxnLst/>
            <a:rect l="l" t="t" r="r" b="b"/>
            <a:pathLst>
              <a:path w="5360035" h="2709545">
                <a:moveTo>
                  <a:pt x="4633675" y="2709545"/>
                </a:moveTo>
                <a:lnTo>
                  <a:pt x="0" y="2709545"/>
                </a:lnTo>
                <a:lnTo>
                  <a:pt x="726360" y="0"/>
                </a:lnTo>
                <a:lnTo>
                  <a:pt x="5360035" y="0"/>
                </a:lnTo>
                <a:close/>
              </a:path>
            </a:pathLst>
          </a:custGeom>
          <a:solidFill>
            <a:srgbClr val="FFFFFF"/>
          </a:solidFill>
          <a:ln w="19050">
            <a:gradFill flip="none" rotWithShape="1">
              <a:gsLst>
                <a:gs pos="0">
                  <a:srgbClr val="FFD966">
                    <a:alpha val="0"/>
                  </a:srgbClr>
                </a:gs>
                <a:gs pos="30000">
                  <a:srgbClr val="FFD966">
                    <a:alpha val="0"/>
                  </a:srgbClr>
                </a:gs>
                <a:gs pos="100000">
                  <a:srgbClr val="FFC000"/>
                </a:gs>
              </a:gsLst>
              <a:lin ang="10800000" scaled="1"/>
            </a:gradFill>
            <a:prstDash val="solid"/>
          </a:ln>
        </p:spPr>
      </p:sp>
      <p:sp>
        <p:nvSpPr>
          <p:cNvPr id="7" name="Text 3"/>
          <p:cNvSpPr/>
          <p:nvPr/>
        </p:nvSpPr>
        <p:spPr>
          <a:xfrm>
            <a:off x="5921375" y="2241550"/>
            <a:ext cx="5360035" cy="270954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915670" y="1682115"/>
            <a:ext cx="5360035" cy="2709545"/>
          </a:xfrm>
          <a:custGeom>
            <a:avLst/>
            <a:gdLst/>
            <a:ahLst/>
            <a:cxnLst/>
            <a:rect l="l" t="t" r="r" b="b"/>
            <a:pathLst>
              <a:path w="5360035" h="2709545">
                <a:moveTo>
                  <a:pt x="4633675" y="2709545"/>
                </a:moveTo>
                <a:lnTo>
                  <a:pt x="0" y="2709545"/>
                </a:lnTo>
                <a:lnTo>
                  <a:pt x="726360" y="0"/>
                </a:lnTo>
                <a:lnTo>
                  <a:pt x="5360035" y="0"/>
                </a:lnTo>
                <a:close/>
              </a:path>
            </a:pathLst>
          </a:custGeom>
          <a:gradFill flip="none" rotWithShape="1">
            <a:gsLst>
              <a:gs pos="0">
                <a:srgbClr val="BEE396">
                  <a:alpha val="0"/>
                </a:srgbClr>
              </a:gs>
              <a:gs pos="20000">
                <a:srgbClr val="BEE396">
                  <a:alpha val="0"/>
                </a:srgbClr>
              </a:gs>
              <a:gs pos="100000">
                <a:srgbClr val="BEE396">
                  <a:alpha val="40000"/>
                </a:srgbClr>
              </a:gs>
            </a:gsLst>
            <a:lin ang="0" scaled="1"/>
          </a:gradFill>
          <a:ln/>
        </p:spPr>
      </p:sp>
      <p:sp>
        <p:nvSpPr>
          <p:cNvPr id="9" name="Text 5"/>
          <p:cNvSpPr/>
          <p:nvPr/>
        </p:nvSpPr>
        <p:spPr>
          <a:xfrm>
            <a:off x="915670" y="1682115"/>
            <a:ext cx="5360035" cy="270954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819785" y="1556385"/>
            <a:ext cx="5360035" cy="2709545"/>
          </a:xfrm>
          <a:custGeom>
            <a:avLst/>
            <a:gdLst/>
            <a:ahLst/>
            <a:cxnLst/>
            <a:rect l="l" t="t" r="r" b="b"/>
            <a:pathLst>
              <a:path w="5360035" h="2709545">
                <a:moveTo>
                  <a:pt x="4633675" y="2709545"/>
                </a:moveTo>
                <a:lnTo>
                  <a:pt x="0" y="2709545"/>
                </a:lnTo>
                <a:lnTo>
                  <a:pt x="726360" y="0"/>
                </a:lnTo>
                <a:lnTo>
                  <a:pt x="5360035" y="0"/>
                </a:lnTo>
                <a:close/>
              </a:path>
            </a:pathLst>
          </a:custGeom>
          <a:solidFill>
            <a:srgbClr val="FFFFFF"/>
          </a:solidFill>
          <a:ln w="19050">
            <a:gradFill flip="none" rotWithShape="1">
              <a:gsLst>
                <a:gs pos="0">
                  <a:srgbClr val="BEE396">
                    <a:alpha val="0"/>
                  </a:srgbClr>
                </a:gs>
                <a:gs pos="30000">
                  <a:srgbClr val="BEE396">
                    <a:alpha val="0"/>
                  </a:srgbClr>
                </a:gs>
                <a:gs pos="100000">
                  <a:srgbClr val="92D050"/>
                </a:gs>
              </a:gsLst>
              <a:lin ang="0" scaled="1"/>
            </a:gradFill>
            <a:prstDash val="solid"/>
          </a:ln>
        </p:spPr>
      </p:sp>
      <p:sp>
        <p:nvSpPr>
          <p:cNvPr id="11" name="Text 7"/>
          <p:cNvSpPr/>
          <p:nvPr/>
        </p:nvSpPr>
        <p:spPr>
          <a:xfrm>
            <a:off x="819785" y="1556385"/>
            <a:ext cx="5360035" cy="270954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3810" y="5335270"/>
            <a:ext cx="12206605" cy="1522730"/>
          </a:xfrm>
          <a:prstGeom prst="roundRect">
            <a:avLst>
              <a:gd name="adj" fmla="val 0"/>
            </a:avLst>
          </a:prstGeom>
          <a:gradFill flip="none" rotWithShape="1">
            <a:gsLst>
              <a:gs pos="0">
                <a:srgbClr val="6EAA2E"/>
              </a:gs>
              <a:gs pos="53000">
                <a:srgbClr val="92D050"/>
              </a:gs>
              <a:gs pos="91000">
                <a:srgbClr val="C9E828"/>
              </a:gs>
              <a:gs pos="100000">
                <a:srgbClr val="C9E828"/>
              </a:gs>
            </a:gsLst>
            <a:lin ang="13500000" scaled="1"/>
          </a:gradFill>
          <a:ln/>
        </p:spPr>
      </p:sp>
      <p:sp>
        <p:nvSpPr>
          <p:cNvPr id="13" name="Text 9"/>
          <p:cNvSpPr/>
          <p:nvPr/>
        </p:nvSpPr>
        <p:spPr>
          <a:xfrm>
            <a:off x="-3810" y="5335270"/>
            <a:ext cx="12206605" cy="152273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0"/>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Data Features Models and Evaluation</a:t>
            </a:r>
            <a:endParaRPr lang="en-US" sz="1600" dirty="0"/>
          </a:p>
        </p:txBody>
      </p:sp>
      <p:sp>
        <p:nvSpPr>
          <p:cNvPr id="15" name="Shape 11"/>
          <p:cNvSpPr/>
          <p:nvPr/>
        </p:nvSpPr>
        <p:spPr>
          <a:xfrm>
            <a:off x="4199255" y="1338990"/>
            <a:ext cx="1457325" cy="504006"/>
          </a:xfrm>
          <a:prstGeom prst="parallelogram">
            <a:avLst>
              <a:gd name="adj" fmla="val 20892"/>
            </a:avLst>
          </a:prstGeom>
          <a:solidFill>
            <a:srgbClr val="92D050"/>
          </a:solidFill>
          <a:ln/>
        </p:spPr>
      </p:sp>
      <p:sp>
        <p:nvSpPr>
          <p:cNvPr id="16" name="Text 12"/>
          <p:cNvSpPr/>
          <p:nvPr/>
        </p:nvSpPr>
        <p:spPr>
          <a:xfrm>
            <a:off x="4199255" y="1338990"/>
            <a:ext cx="1457325" cy="504006"/>
          </a:xfrm>
          <a:prstGeom prst="rect">
            <a:avLst/>
          </a:prstGeom>
          <a:noFill/>
          <a:ln/>
        </p:spPr>
        <p:txBody>
          <a:bodyPr wrap="square" lIns="45720" tIns="91440" rIns="91440" bIns="45720" rtlCol="0" anchor="ctr"/>
          <a:lstStyle/>
          <a:p>
            <a:pPr algn="ctr">
              <a:lnSpc>
                <a:spcPct val="100000"/>
              </a:lnSpc>
            </a:pPr>
            <a:r>
              <a:rPr lang="en-US" sz="1900" b="1" dirty="0">
                <a:solidFill>
                  <a:srgbClr val="FFFFFF"/>
                </a:solidFill>
                <a:latin typeface="Microsoft Sans Serif" pitchFamily="34" charset="0"/>
                <a:ea typeface="Microsoft Sans Serif" pitchFamily="34" charset="-122"/>
                <a:cs typeface="Microsoft Sans Serif" pitchFamily="34" charset="-120"/>
              </a:rPr>
              <a:t>01</a:t>
            </a:r>
            <a:endParaRPr lang="en-US" sz="1600" dirty="0"/>
          </a:p>
        </p:txBody>
      </p:sp>
      <p:sp>
        <p:nvSpPr>
          <p:cNvPr id="17" name="Text 13"/>
          <p:cNvSpPr/>
          <p:nvPr/>
        </p:nvSpPr>
        <p:spPr>
          <a:xfrm>
            <a:off x="1254760" y="2092325"/>
            <a:ext cx="3806190" cy="369570"/>
          </a:xfrm>
          <a:prstGeom prst="rect">
            <a:avLst/>
          </a:prstGeom>
          <a:noFill/>
          <a:ln/>
        </p:spPr>
        <p:txBody>
          <a:bodyPr wrap="square" lIns="0" tIns="0" rIns="0" bIns="0" rtlCol="0" anchor="t"/>
          <a:lstStyle/>
          <a:p>
            <a:pPr algn="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Key Components of ML</a:t>
            </a:r>
            <a:endParaRPr lang="en-US" sz="1600" dirty="0"/>
          </a:p>
        </p:txBody>
      </p:sp>
      <p:sp>
        <p:nvSpPr>
          <p:cNvPr id="18" name="Text 14"/>
          <p:cNvSpPr/>
          <p:nvPr/>
        </p:nvSpPr>
        <p:spPr>
          <a:xfrm>
            <a:off x="827405" y="2514600"/>
            <a:ext cx="4232910" cy="1659835"/>
          </a:xfrm>
          <a:prstGeom prst="rect">
            <a:avLst/>
          </a:prstGeom>
          <a:noFill/>
          <a:ln/>
        </p:spPr>
        <p:txBody>
          <a:bodyPr wrap="square" lIns="0" tIns="0" rIns="0" bIns="0" rtlCol="0" anchor="t"/>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ML involves data collection, feature selection, model training, and evaluation. Quality and quantity of data are crucial, while models like decision trees and neural networks learn patterns to make predictions.</a:t>
            </a:r>
            <a:endParaRPr lang="en-US" sz="1600" dirty="0"/>
          </a:p>
        </p:txBody>
      </p:sp>
      <p:sp>
        <p:nvSpPr>
          <p:cNvPr id="19" name="Shape 15"/>
          <p:cNvSpPr/>
          <p:nvPr/>
        </p:nvSpPr>
        <p:spPr>
          <a:xfrm>
            <a:off x="6471285" y="4613685"/>
            <a:ext cx="1457325" cy="504006"/>
          </a:xfrm>
          <a:prstGeom prst="parallelogram">
            <a:avLst>
              <a:gd name="adj" fmla="val 20892"/>
            </a:avLst>
          </a:prstGeom>
          <a:solidFill>
            <a:srgbClr val="FFC000"/>
          </a:solidFill>
          <a:ln/>
        </p:spPr>
      </p:sp>
      <p:sp>
        <p:nvSpPr>
          <p:cNvPr id="20" name="Text 16"/>
          <p:cNvSpPr/>
          <p:nvPr/>
        </p:nvSpPr>
        <p:spPr>
          <a:xfrm>
            <a:off x="6471285" y="4613685"/>
            <a:ext cx="1457325" cy="504006"/>
          </a:xfrm>
          <a:prstGeom prst="rect">
            <a:avLst/>
          </a:prstGeom>
          <a:noFill/>
          <a:ln/>
        </p:spPr>
        <p:txBody>
          <a:bodyPr wrap="square" lIns="45720" tIns="91440" rIns="91440" bIns="45720" rtlCol="0" anchor="ctr"/>
          <a:lstStyle/>
          <a:p>
            <a:pPr algn="ctr">
              <a:lnSpc>
                <a:spcPct val="100000"/>
              </a:lnSpc>
            </a:pPr>
            <a:r>
              <a:rPr lang="en-US" sz="1900" b="1" dirty="0">
                <a:solidFill>
                  <a:srgbClr val="FFFFFF"/>
                </a:solidFill>
                <a:latin typeface="Microsoft Sans Serif" pitchFamily="34" charset="0"/>
                <a:ea typeface="Microsoft Sans Serif" pitchFamily="34" charset="-122"/>
                <a:cs typeface="Microsoft Sans Serif" pitchFamily="34" charset="-120"/>
              </a:rPr>
              <a:t>02</a:t>
            </a:r>
            <a:endParaRPr lang="en-US" sz="1600" dirty="0"/>
          </a:p>
        </p:txBody>
      </p:sp>
      <p:sp>
        <p:nvSpPr>
          <p:cNvPr id="21" name="Text 17"/>
          <p:cNvSpPr/>
          <p:nvPr/>
        </p:nvSpPr>
        <p:spPr>
          <a:xfrm>
            <a:off x="6994525" y="2595245"/>
            <a:ext cx="3806825" cy="369570"/>
          </a:xfrm>
          <a:prstGeom prst="rect">
            <a:avLst/>
          </a:prstGeom>
          <a:noFill/>
          <a:ln/>
        </p:spPr>
        <p:txBody>
          <a:bodyPr wrap="square" lIns="0" tIns="0" rIns="0" bIns="0" rtlCol="0" anchor="t"/>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Types of Machine Learning</a:t>
            </a:r>
            <a:endParaRPr lang="en-US" sz="1600" dirty="0"/>
          </a:p>
        </p:txBody>
      </p:sp>
      <p:sp>
        <p:nvSpPr>
          <p:cNvPr id="22" name="Text 18"/>
          <p:cNvSpPr/>
          <p:nvPr/>
        </p:nvSpPr>
        <p:spPr>
          <a:xfrm>
            <a:off x="6995160" y="3017520"/>
            <a:ext cx="4233600" cy="1177330"/>
          </a:xfrm>
          <a:prstGeom prst="rect">
            <a:avLst/>
          </a:prstGeom>
          <a:noFill/>
          <a:ln/>
        </p:spPr>
        <p:txBody>
          <a:bodyPr wrap="square" lIns="0" tIns="0" rIns="0" bIns="0" rtlCol="0" anchor="t">
            <a:spAutoFit/>
          </a:bodyPr>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Supervised learning uses labeled data, unsupervised learning finds patterns in unlabeled data, and reinforcement learning learns through trial and error with rewards or penalties.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02</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Industry Impact</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flipV="1">
            <a:off x="-12700" y="1188720"/>
            <a:ext cx="12204700" cy="2362835"/>
          </a:xfrm>
          <a:prstGeom prst="rect">
            <a:avLst/>
          </a:prstGeom>
          <a:gradFill flip="none" rotWithShape="1">
            <a:gsLst>
              <a:gs pos="0">
                <a:srgbClr val="6EAA2E"/>
              </a:gs>
              <a:gs pos="20000">
                <a:srgbClr val="6EAA2E"/>
              </a:gs>
              <a:gs pos="62000">
                <a:srgbClr val="6EAA2E"/>
              </a:gs>
              <a:gs pos="98000">
                <a:srgbClr val="C9E828"/>
              </a:gs>
              <a:gs pos="100000">
                <a:srgbClr val="E4F414"/>
              </a:gs>
            </a:gsLst>
            <a:lin ang="13500000" scaled="1"/>
          </a:gradFill>
          <a:ln/>
        </p:spPr>
      </p:sp>
      <p:sp>
        <p:nvSpPr>
          <p:cNvPr id="5" name="Text 1"/>
          <p:cNvSpPr/>
          <p:nvPr/>
        </p:nvSpPr>
        <p:spPr>
          <a:xfrm>
            <a:off x="-12700" y="1188720"/>
            <a:ext cx="12204700" cy="23628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772160" y="1636395"/>
            <a:ext cx="3249253" cy="4178935"/>
          </a:xfrm>
          <a:prstGeom prst="round2DiagRect">
            <a:avLst>
              <a:gd name="adj1" fmla="val 7758"/>
              <a:gd name="adj2" fmla="val 0"/>
            </a:avLst>
          </a:prstGeom>
          <a:solidFill>
            <a:srgbClr val="FFFFFF"/>
          </a:solidFill>
          <a:ln w="19050">
            <a:gradFill flip="none" rotWithShape="1">
              <a:gsLst>
                <a:gs pos="0">
                  <a:srgbClr val="6EAA2E"/>
                </a:gs>
                <a:gs pos="100000">
                  <a:srgbClr val="92D050"/>
                </a:gs>
              </a:gsLst>
              <a:lin ang="2700000" scaled="1"/>
            </a:gradFill>
            <a:prstDash val="solid"/>
          </a:ln>
        </p:spPr>
      </p:sp>
      <p:sp>
        <p:nvSpPr>
          <p:cNvPr id="7" name="Text 3"/>
          <p:cNvSpPr/>
          <p:nvPr/>
        </p:nvSpPr>
        <p:spPr>
          <a:xfrm>
            <a:off x="772160" y="1636395"/>
            <a:ext cx="3249253" cy="41789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flipH="1" flipV="1">
            <a:off x="4414520" y="4022725"/>
            <a:ext cx="2697480" cy="76200"/>
          </a:xfrm>
          <a:prstGeom prst="parallelogram">
            <a:avLst>
              <a:gd name="adj" fmla="val 25000"/>
            </a:avLst>
          </a:prstGeom>
          <a:gradFill flip="none" rotWithShape="1">
            <a:gsLst>
              <a:gs pos="0">
                <a:srgbClr val="92D050"/>
              </a:gs>
              <a:gs pos="29000">
                <a:srgbClr val="92D050"/>
              </a:gs>
              <a:gs pos="100000">
                <a:srgbClr val="FFFF00">
                  <a:alpha val="0"/>
                </a:srgbClr>
              </a:gs>
            </a:gsLst>
            <a:lin ang="13500000" scaled="1"/>
          </a:gradFill>
          <a:ln/>
        </p:spPr>
      </p:sp>
      <p:sp>
        <p:nvSpPr>
          <p:cNvPr id="9" name="Text 5"/>
          <p:cNvSpPr/>
          <p:nvPr/>
        </p:nvSpPr>
        <p:spPr>
          <a:xfrm>
            <a:off x="4414520" y="4022725"/>
            <a:ext cx="269748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flipH="1" flipV="1">
            <a:off x="8366760" y="4022725"/>
            <a:ext cx="2697480" cy="76200"/>
          </a:xfrm>
          <a:prstGeom prst="parallelogram">
            <a:avLst>
              <a:gd name="adj" fmla="val 25000"/>
            </a:avLst>
          </a:prstGeom>
          <a:gradFill flip="none" rotWithShape="1">
            <a:gsLst>
              <a:gs pos="0">
                <a:srgbClr val="92D050"/>
              </a:gs>
              <a:gs pos="29000">
                <a:srgbClr val="92D050"/>
              </a:gs>
              <a:gs pos="100000">
                <a:srgbClr val="FFFF00">
                  <a:alpha val="0"/>
                </a:srgbClr>
              </a:gs>
            </a:gsLst>
            <a:lin ang="13500000" scaled="1"/>
          </a:gradFill>
          <a:ln/>
        </p:spPr>
      </p:sp>
      <p:sp>
        <p:nvSpPr>
          <p:cNvPr id="11" name="Text 7"/>
          <p:cNvSpPr/>
          <p:nvPr/>
        </p:nvSpPr>
        <p:spPr>
          <a:xfrm>
            <a:off x="8366760" y="4022725"/>
            <a:ext cx="269748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8"/>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Predictive Analytics in Finance and Health</a:t>
            </a:r>
            <a:endParaRPr lang="en-US" sz="1600" dirty="0"/>
          </a:p>
        </p:txBody>
      </p:sp>
      <p:sp>
        <p:nvSpPr>
          <p:cNvPr id="13" name="Text 9"/>
          <p:cNvSpPr/>
          <p:nvPr/>
        </p:nvSpPr>
        <p:spPr>
          <a:xfrm>
            <a:off x="1009462" y="1937385"/>
            <a:ext cx="2844654" cy="645517"/>
          </a:xfrm>
          <a:prstGeom prst="rect">
            <a:avLst/>
          </a:prstGeom>
          <a:noFill/>
          <a:ln/>
        </p:spPr>
        <p:txBody>
          <a:bodyPr wrap="square" lIns="91440" tIns="45720" rIns="91440" bIns="45720" rtlCol="0" anchor="t">
            <a:spAutoFit/>
          </a:bodyPr>
          <a:lstStyle/>
          <a:p>
            <a:pPr>
              <a:lnSpc>
                <a:spcPct val="100000"/>
              </a:lnSpc>
            </a:pPr>
            <a:r>
              <a:rPr lang="en-US" sz="2000" b="1" dirty="0">
                <a:solidFill>
                  <a:srgbClr val="49711E"/>
                </a:solidFill>
                <a:latin typeface="Microsoft Sans Serif" pitchFamily="34" charset="0"/>
                <a:ea typeface="Microsoft Sans Serif" pitchFamily="34" charset="-122"/>
                <a:cs typeface="Microsoft Sans Serif" pitchFamily="34" charset="-120"/>
              </a:rPr>
              <a:t>Predictive Analytics in Finance</a:t>
            </a:r>
            <a:endParaRPr lang="en-US" sz="1600" dirty="0"/>
          </a:p>
        </p:txBody>
      </p:sp>
      <p:sp>
        <p:nvSpPr>
          <p:cNvPr id="14" name="Text 10"/>
          <p:cNvSpPr/>
          <p:nvPr/>
        </p:nvSpPr>
        <p:spPr>
          <a:xfrm>
            <a:off x="1009462" y="2700655"/>
            <a:ext cx="2766293" cy="2891790"/>
          </a:xfrm>
          <a:prstGeom prst="rect">
            <a:avLst/>
          </a:prstGeom>
          <a:noFill/>
          <a:ln/>
        </p:spPr>
        <p:txBody>
          <a:bodyPr wrap="square" lIns="91440" tIns="45720" rIns="91440" bIns="45720" rtlCol="0" anchor="t"/>
          <a:lstStyle/>
          <a:p>
            <a:pPr>
              <a:lnSpc>
                <a:spcPct val="120000"/>
              </a:lnSpc>
            </a:pPr>
            <a:r>
              <a:rPr lang="en-US" sz="1600" dirty="0">
                <a:solidFill>
                  <a:srgbClr val="000000"/>
                </a:solidFill>
                <a:latin typeface="Microsoft Sans Serif" pitchFamily="34" charset="0"/>
                <a:ea typeface="Microsoft Sans Serif" pitchFamily="34" charset="-122"/>
                <a:cs typeface="Microsoft Sans Serif" pitchFamily="34" charset="-120"/>
              </a:rPr>
              <a:t>In finance, ML models analyze historical stock prices and transaction logs to predict market trends, score credit risk, and detect fraud, enabling faster and more informed decision-making.</a:t>
            </a:r>
            <a:endParaRPr lang="en-US" sz="1600" dirty="0"/>
          </a:p>
        </p:txBody>
      </p:sp>
      <p:sp>
        <p:nvSpPr>
          <p:cNvPr id="15" name="Text 11"/>
          <p:cNvSpPr/>
          <p:nvPr/>
        </p:nvSpPr>
        <p:spPr>
          <a:xfrm>
            <a:off x="4239895" y="1532890"/>
            <a:ext cx="6523990" cy="306784"/>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FFFFFF"/>
                </a:solidFill>
                <a:latin typeface="Microsoft Sans Serif" pitchFamily="34" charset="0"/>
                <a:ea typeface="Microsoft Sans Serif" pitchFamily="34" charset="-122"/>
                <a:cs typeface="Microsoft Sans Serif" pitchFamily="34" charset="-120"/>
              </a:rPr>
              <a:t>Predictive Analytics in Healthcare</a:t>
            </a:r>
            <a:endParaRPr lang="en-US" sz="1600" dirty="0"/>
          </a:p>
        </p:txBody>
      </p:sp>
      <p:sp>
        <p:nvSpPr>
          <p:cNvPr id="16" name="Text 12"/>
          <p:cNvSpPr/>
          <p:nvPr/>
        </p:nvSpPr>
        <p:spPr>
          <a:xfrm>
            <a:off x="4231005" y="1976120"/>
            <a:ext cx="7204075" cy="877888"/>
          </a:xfrm>
          <a:prstGeom prst="rect">
            <a:avLst/>
          </a:prstGeom>
          <a:noFill/>
          <a:ln/>
        </p:spPr>
        <p:txBody>
          <a:bodyPr wrap="square" lIns="91440" tIns="45720" rIns="91440" bIns="45720" rtlCol="0" anchor="t">
            <a:spAutoFit/>
          </a:bodyPr>
          <a:lstStyle/>
          <a:p>
            <a:pPr>
              <a:lnSpc>
                <a:spcPct val="120000"/>
              </a:lnSpc>
            </a:pPr>
            <a:r>
              <a:rPr lang="en-US" sz="1600" dirty="0">
                <a:solidFill>
                  <a:srgbClr val="FFFFFF"/>
                </a:solidFill>
                <a:latin typeface="Microsoft Sans Serif" pitchFamily="34" charset="0"/>
                <a:ea typeface="Microsoft Sans Serif" pitchFamily="34" charset="-122"/>
                <a:cs typeface="Microsoft Sans Serif" pitchFamily="34" charset="-120"/>
              </a:rPr>
              <a:t>In healthcare, ML algorithms process patient records to predict disease risk and patient outcomes, aiding early intervention and personalized treatment plans.</a:t>
            </a:r>
            <a:endParaRPr lang="en-US" sz="1600" dirty="0"/>
          </a:p>
        </p:txBody>
      </p:sp>
      <p:sp>
        <p:nvSpPr>
          <p:cNvPr id="17" name="Text 13"/>
          <p:cNvSpPr/>
          <p:nvPr/>
        </p:nvSpPr>
        <p:spPr>
          <a:xfrm>
            <a:off x="4336415" y="3649345"/>
            <a:ext cx="336169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Importance of Validation</a:t>
            </a:r>
            <a:endParaRPr lang="en-US" sz="1600" dirty="0"/>
          </a:p>
        </p:txBody>
      </p:sp>
      <p:sp>
        <p:nvSpPr>
          <p:cNvPr id="18" name="Text 14"/>
          <p:cNvSpPr/>
          <p:nvPr/>
        </p:nvSpPr>
        <p:spPr>
          <a:xfrm>
            <a:off x="4336415" y="4153535"/>
            <a:ext cx="3267710" cy="1125538"/>
          </a:xfrm>
          <a:prstGeom prst="rect">
            <a:avLst/>
          </a:prstGeom>
          <a:noFill/>
          <a:ln/>
        </p:spPr>
        <p:txBody>
          <a:bodyPr wrap="square" lIns="91440" tIns="45720" rIns="91440" bIns="45720" rtlCol="0" anchor="t">
            <a:spAutoFit/>
          </a:bodyPr>
          <a:lstStyle/>
          <a:p>
            <a:pPr>
              <a:lnSpc>
                <a:spcPct val="120000"/>
              </a:lnSpc>
            </a:pPr>
            <a:r>
              <a:rPr lang="en-US" sz="1400" dirty="0">
                <a:solidFill>
                  <a:srgbClr val="000000"/>
                </a:solidFill>
                <a:latin typeface="Microsoft Sans Serif" pitchFamily="34" charset="0"/>
                <a:ea typeface="Microsoft Sans Serif" pitchFamily="34" charset="-122"/>
                <a:cs typeface="Microsoft Sans Serif" pitchFamily="34" charset="-120"/>
              </a:rPr>
              <a:t>Ensuring model accuracy through rigorous validation is crucial to avoid misleading predictions and maintain trust in ML-driven decisions.</a:t>
            </a:r>
            <a:endParaRPr lang="en-US" sz="1600" dirty="0"/>
          </a:p>
        </p:txBody>
      </p:sp>
      <p:sp>
        <p:nvSpPr>
          <p:cNvPr id="19" name="Text 15"/>
          <p:cNvSpPr/>
          <p:nvPr/>
        </p:nvSpPr>
        <p:spPr>
          <a:xfrm>
            <a:off x="8288655" y="3649345"/>
            <a:ext cx="336169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Regulatory Oversight</a:t>
            </a:r>
            <a:endParaRPr lang="en-US" sz="1600" dirty="0"/>
          </a:p>
        </p:txBody>
      </p:sp>
      <p:sp>
        <p:nvSpPr>
          <p:cNvPr id="20" name="Text 16"/>
          <p:cNvSpPr/>
          <p:nvPr/>
        </p:nvSpPr>
        <p:spPr>
          <a:xfrm>
            <a:off x="8288655" y="4153535"/>
            <a:ext cx="3267710" cy="1125538"/>
          </a:xfrm>
          <a:prstGeom prst="rect">
            <a:avLst/>
          </a:prstGeom>
          <a:noFill/>
          <a:ln/>
        </p:spPr>
        <p:txBody>
          <a:bodyPr wrap="square" lIns="91440" tIns="45720" rIns="91440" bIns="45720" rtlCol="0" anchor="t">
            <a:spAutoFit/>
          </a:bodyPr>
          <a:lstStyle/>
          <a:p>
            <a:pPr>
              <a:lnSpc>
                <a:spcPct val="120000"/>
              </a:lnSpc>
            </a:pPr>
            <a:r>
              <a:rPr lang="en-US" sz="1400" dirty="0">
                <a:solidFill>
                  <a:srgbClr val="000000"/>
                </a:solidFill>
                <a:latin typeface="Microsoft Sans Serif" pitchFamily="34" charset="0"/>
                <a:ea typeface="Microsoft Sans Serif" pitchFamily="34" charset="-122"/>
                <a:cs typeface="Microsoft Sans Serif" pitchFamily="34" charset="-120"/>
              </a:rPr>
              <a:t>Regulatory oversight is essential to ensure that ML models comply with industry standards and protect against potential biases and errors.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flipV="1">
            <a:off x="971055" y="748041"/>
            <a:ext cx="292595" cy="291454"/>
          </a:xfrm>
          <a:prstGeom prst="plaque">
            <a:avLst>
              <a:gd name="adj" fmla="val 50000"/>
            </a:avLst>
          </a:prstGeom>
          <a:solidFill>
            <a:srgbClr val="000000"/>
          </a:solidFill>
          <a:ln/>
        </p:spPr>
      </p:sp>
      <p:sp>
        <p:nvSpPr>
          <p:cNvPr id="3" name="Text 1"/>
          <p:cNvSpPr/>
          <p:nvPr/>
        </p:nvSpPr>
        <p:spPr>
          <a:xfrm>
            <a:off x="971055" y="748041"/>
            <a:ext cx="292595" cy="291454"/>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flipV="1">
            <a:off x="594360" y="380365"/>
            <a:ext cx="438309" cy="436889"/>
          </a:xfrm>
          <a:prstGeom prst="plaque">
            <a:avLst>
              <a:gd name="adj" fmla="val 50000"/>
            </a:avLst>
          </a:prstGeom>
          <a:solidFill>
            <a:srgbClr val="000000"/>
          </a:solidFill>
          <a:ln/>
        </p:spPr>
      </p:sp>
      <p:sp>
        <p:nvSpPr>
          <p:cNvPr id="5" name="Text 3"/>
          <p:cNvSpPr/>
          <p:nvPr/>
        </p:nvSpPr>
        <p:spPr>
          <a:xfrm>
            <a:off x="594360" y="380365"/>
            <a:ext cx="438309" cy="436889"/>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8-27-20:02:56-d2nf7s18bjvh7rlj08fg.png"/>
          <p:cNvPicPr>
            <a:picLocks noChangeAspect="1"/>
          </p:cNvPicPr>
          <p:nvPr/>
        </p:nvPicPr>
        <p:blipFill>
          <a:blip r:embed="rId3"/>
          <a:srcRect l="21" r="21"/>
          <a:stretch/>
        </p:blipFill>
        <p:spPr>
          <a:xfrm>
            <a:off x="0" y="-3810"/>
            <a:ext cx="12205335" cy="6875145"/>
          </a:xfrm>
          <a:prstGeom prst="rect">
            <a:avLst/>
          </a:prstGeom>
        </p:spPr>
      </p:pic>
      <p:pic>
        <p:nvPicPr>
          <p:cNvPr id="7" name="Image 1" descr="https://kimi-img.moonshot.cn/pub/slides/slides_tmpl/image/25-08-27-20:02:57-d2nf7s98bjvh7rlj08hg.png"/>
          <p:cNvPicPr>
            <a:picLocks noChangeAspect="1"/>
          </p:cNvPicPr>
          <p:nvPr/>
        </p:nvPicPr>
        <p:blipFill>
          <a:blip r:embed="rId4"/>
          <a:srcRect/>
          <a:stretch/>
        </p:blipFill>
        <p:spPr>
          <a:xfrm>
            <a:off x="7056755" y="1439545"/>
            <a:ext cx="4297680" cy="4297680"/>
          </a:xfrm>
          <a:prstGeom prst="rect">
            <a:avLst/>
          </a:prstGeom>
        </p:spPr>
      </p:pic>
      <p:sp>
        <p:nvSpPr>
          <p:cNvPr id="8" name="Text 4"/>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Vision Language and Recommendations</a:t>
            </a:r>
            <a:endParaRPr lang="en-US" sz="1600" dirty="0"/>
          </a:p>
        </p:txBody>
      </p:sp>
      <p:sp>
        <p:nvSpPr>
          <p:cNvPr id="9" name="Text 5"/>
          <p:cNvSpPr/>
          <p:nvPr/>
        </p:nvSpPr>
        <p:spPr>
          <a:xfrm>
            <a:off x="1075690" y="1915795"/>
            <a:ext cx="5085080" cy="1574800"/>
          </a:xfrm>
          <a:prstGeom prst="rect">
            <a:avLst/>
          </a:prstGeom>
          <a:noFill/>
          <a:ln/>
        </p:spPr>
        <p:txBody>
          <a:bodyPr wrap="square" lIns="91440" tIns="45720" rIns="91440" bIns="45720" rtlCol="0" anchor="t">
            <a:spAutoFit/>
          </a:bodyPr>
          <a:lstStyle/>
          <a:p>
            <a:pPr algn="just">
              <a:lnSpc>
                <a:spcPct val="100000"/>
              </a:lnSpc>
            </a:pPr>
            <a:r>
              <a:rPr lang="en-US" sz="3200" b="1" dirty="0">
                <a:solidFill>
                  <a:srgbClr val="2B2F36"/>
                </a:solidFill>
                <a:latin typeface="Microsoft Sans Serif" pitchFamily="34" charset="0"/>
                <a:ea typeface="Microsoft Sans Serif" pitchFamily="34" charset="-122"/>
                <a:cs typeface="Microsoft Sans Serif" pitchFamily="34" charset="-120"/>
              </a:rPr>
              <a:t>Applications in Vision, Language, and Recommendations</a:t>
            </a:r>
            <a:endParaRPr lang="en-US" sz="1600" dirty="0"/>
          </a:p>
        </p:txBody>
      </p:sp>
      <p:sp>
        <p:nvSpPr>
          <p:cNvPr id="10" name="Text 6"/>
          <p:cNvSpPr/>
          <p:nvPr/>
        </p:nvSpPr>
        <p:spPr>
          <a:xfrm>
            <a:off x="1111250" y="3197225"/>
            <a:ext cx="5109845" cy="2773363"/>
          </a:xfrm>
          <a:prstGeom prst="rect">
            <a:avLst/>
          </a:prstGeom>
          <a:noFill/>
          <a:ln/>
        </p:spPr>
        <p:txBody>
          <a:bodyPr wrap="square" lIns="91440" tIns="45720" rIns="91440" bIns="45720" rtlCol="0" anchor="t">
            <a:spAutoFit/>
          </a:bodyPr>
          <a:lstStyle/>
          <a:p>
            <a:pPr>
              <a:lnSpc>
                <a:spcPct val="130000"/>
              </a:lnSpc>
            </a:pPr>
            <a:r>
              <a:rPr lang="en-US" sz="2000" dirty="0">
                <a:solidFill>
                  <a:srgbClr val="2B2F36"/>
                </a:solidFill>
                <a:latin typeface="Microsoft Sans Serif" pitchFamily="34" charset="0"/>
                <a:ea typeface="Microsoft Sans Serif" pitchFamily="34" charset="-122"/>
                <a:cs typeface="Microsoft Sans Serif" pitchFamily="34" charset="-120"/>
              </a:rPr>
              <a:t>ML powers vision systems like medical imaging and self-driving cars, language models for translation and chatbots, and recommendation systems for personalized content and products. These applications transform user experiences and drive innovation.</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03</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Zero-Code Playground</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213360" y="1508125"/>
            <a:ext cx="11765280" cy="4935220"/>
          </a:xfrm>
          <a:prstGeom prst="roundRect">
            <a:avLst>
              <a:gd name="adj" fmla="val 8569"/>
            </a:avLst>
          </a:prstGeom>
          <a:solidFill>
            <a:srgbClr val="FFFFFF"/>
          </a:solidFill>
          <a:ln w="19050">
            <a:gradFill flip="none" rotWithShape="1">
              <a:gsLst>
                <a:gs pos="0">
                  <a:srgbClr val="6EAA2E"/>
                </a:gs>
                <a:gs pos="38000">
                  <a:srgbClr val="77B437">
                    <a:alpha val="0"/>
                  </a:srgbClr>
                </a:gs>
                <a:gs pos="66000">
                  <a:srgbClr val="80BD3F">
                    <a:alpha val="0"/>
                  </a:srgbClr>
                </a:gs>
                <a:gs pos="100000">
                  <a:srgbClr val="92D050"/>
                </a:gs>
              </a:gsLst>
              <a:lin ang="0" scaled="1"/>
            </a:gradFill>
            <a:prstDash val="solid"/>
          </a:ln>
        </p:spPr>
      </p:sp>
      <p:sp>
        <p:nvSpPr>
          <p:cNvPr id="5" name="Text 1"/>
          <p:cNvSpPr/>
          <p:nvPr/>
        </p:nvSpPr>
        <p:spPr>
          <a:xfrm>
            <a:off x="213360" y="1508125"/>
            <a:ext cx="11765280" cy="493522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flipH="1">
            <a:off x="3959860" y="1500505"/>
            <a:ext cx="4272280" cy="4272280"/>
          </a:xfrm>
          <a:prstGeom prst="ellipse">
            <a:avLst/>
          </a:prstGeom>
          <a:solidFill>
            <a:srgbClr val="92D050">
              <a:alpha val="12941"/>
            </a:srgbClr>
          </a:solidFill>
          <a:ln/>
        </p:spPr>
      </p:sp>
      <p:sp>
        <p:nvSpPr>
          <p:cNvPr id="7" name="Text 3"/>
          <p:cNvSpPr/>
          <p:nvPr/>
        </p:nvSpPr>
        <p:spPr>
          <a:xfrm>
            <a:off x="3959860" y="1500505"/>
            <a:ext cx="4272280" cy="42722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flipH="1">
            <a:off x="4408805" y="1949450"/>
            <a:ext cx="3374390" cy="3374390"/>
          </a:xfrm>
          <a:prstGeom prst="ellipse">
            <a:avLst/>
          </a:prstGeom>
          <a:solidFill>
            <a:srgbClr val="000000">
              <a:alpha val="0"/>
            </a:srgbClr>
          </a:solidFill>
          <a:ln w="12700">
            <a:solidFill>
              <a:srgbClr val="92D050"/>
            </a:solidFill>
            <a:prstDash val="dash"/>
          </a:ln>
        </p:spPr>
      </p:sp>
      <p:sp>
        <p:nvSpPr>
          <p:cNvPr id="9" name="Text 5"/>
          <p:cNvSpPr/>
          <p:nvPr/>
        </p:nvSpPr>
        <p:spPr>
          <a:xfrm>
            <a:off x="4408805" y="1949450"/>
            <a:ext cx="3374390" cy="337439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flipH="1">
            <a:off x="5010785" y="2551430"/>
            <a:ext cx="2171065" cy="2171065"/>
          </a:xfrm>
          <a:prstGeom prst="ellipse">
            <a:avLst/>
          </a:prstGeom>
          <a:gradFill flip="none" rotWithShape="1">
            <a:gsLst>
              <a:gs pos="0">
                <a:srgbClr val="92D050"/>
              </a:gs>
              <a:gs pos="29000">
                <a:srgbClr val="92D050"/>
              </a:gs>
              <a:gs pos="100000">
                <a:srgbClr val="FFFF00"/>
              </a:gs>
            </a:gsLst>
            <a:lin ang="13500000" scaled="1"/>
          </a:gradFill>
          <a:ln/>
        </p:spPr>
      </p:sp>
      <p:sp>
        <p:nvSpPr>
          <p:cNvPr id="11" name="Text 7"/>
          <p:cNvSpPr/>
          <p:nvPr/>
        </p:nvSpPr>
        <p:spPr>
          <a:xfrm>
            <a:off x="5010785" y="2551430"/>
            <a:ext cx="2171065" cy="217106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flipH="1">
            <a:off x="4675505" y="2216150"/>
            <a:ext cx="2840990" cy="2840990"/>
          </a:xfrm>
          <a:prstGeom prst="ellipse">
            <a:avLst/>
          </a:prstGeom>
          <a:solidFill>
            <a:srgbClr val="92D050">
              <a:alpha val="12941"/>
            </a:srgbClr>
          </a:solidFill>
          <a:ln/>
        </p:spPr>
      </p:sp>
      <p:sp>
        <p:nvSpPr>
          <p:cNvPr id="13" name="Text 9"/>
          <p:cNvSpPr/>
          <p:nvPr/>
        </p:nvSpPr>
        <p:spPr>
          <a:xfrm>
            <a:off x="4675505" y="2216150"/>
            <a:ext cx="2840990" cy="2840990"/>
          </a:xfrm>
          <a:prstGeom prst="rect">
            <a:avLst/>
          </a:prstGeom>
          <a:noFill/>
          <a:ln/>
        </p:spPr>
        <p:txBody>
          <a:bodyPr wrap="square" lIns="45720" tIns="91440" rIns="91440" bIns="45720" rtlCol="0" anchor="ctr"/>
          <a:lstStyle/>
          <a:p>
            <a:pPr>
              <a:lnSpc>
                <a:spcPct val="100000"/>
              </a:lnSpc>
            </a:pPr>
            <a:endParaRPr lang="en-US" sz="1600" dirty="0"/>
          </a:p>
        </p:txBody>
      </p:sp>
      <p:pic>
        <p:nvPicPr>
          <p:cNvPr id="14" name="Image 2" descr="https://kimi-img.moonshot.cn/pub/slides/slides_tmpl/image/25-08-27-20:02:57-d2nf7s98bjvh7rlj08k0.sv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5610" y="3046730"/>
            <a:ext cx="1189990" cy="1189990"/>
          </a:xfrm>
          <a:prstGeom prst="rect">
            <a:avLst/>
          </a:prstGeom>
        </p:spPr>
      </p:pic>
      <p:sp>
        <p:nvSpPr>
          <p:cNvPr id="15" name="Text 10"/>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Build Models with Colab and Teachable</a:t>
            </a:r>
            <a:endParaRPr lang="en-US" sz="1600" dirty="0"/>
          </a:p>
        </p:txBody>
      </p:sp>
      <p:sp>
        <p:nvSpPr>
          <p:cNvPr id="16" name="Text 11"/>
          <p:cNvSpPr/>
          <p:nvPr/>
        </p:nvSpPr>
        <p:spPr>
          <a:xfrm>
            <a:off x="579755" y="2103120"/>
            <a:ext cx="311785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49711E"/>
                </a:solidFill>
                <a:latin typeface="Microsoft Sans Serif" pitchFamily="34" charset="0"/>
                <a:ea typeface="Microsoft Sans Serif" pitchFamily="34" charset="-122"/>
                <a:cs typeface="Microsoft Sans Serif" pitchFamily="34" charset="-120"/>
              </a:rPr>
              <a:t>Using Google Colab</a:t>
            </a:r>
            <a:endParaRPr lang="en-US" sz="1600" dirty="0"/>
          </a:p>
        </p:txBody>
      </p:sp>
      <p:sp>
        <p:nvSpPr>
          <p:cNvPr id="17" name="Text 12"/>
          <p:cNvSpPr/>
          <p:nvPr/>
        </p:nvSpPr>
        <p:spPr>
          <a:xfrm>
            <a:off x="560705" y="2835275"/>
            <a:ext cx="3116580" cy="2730500"/>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With Google Colab, you can import datasets like Titanic or Iris, train models like decision trees, and evaluate accuracy within minutes. This platform makes ML accessible without needing advanced programming skills.</a:t>
            </a:r>
            <a:endParaRPr lang="en-US" sz="1600" dirty="0"/>
          </a:p>
        </p:txBody>
      </p:sp>
      <p:sp>
        <p:nvSpPr>
          <p:cNvPr id="18" name="Text 13"/>
          <p:cNvSpPr/>
          <p:nvPr/>
        </p:nvSpPr>
        <p:spPr>
          <a:xfrm>
            <a:off x="8479155" y="2103120"/>
            <a:ext cx="311785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49711E"/>
                </a:solidFill>
                <a:latin typeface="Microsoft Sans Serif" pitchFamily="34" charset="0"/>
                <a:ea typeface="Microsoft Sans Serif" pitchFamily="34" charset="-122"/>
                <a:cs typeface="Microsoft Sans Serif" pitchFamily="34" charset="-120"/>
              </a:rPr>
              <a:t>Using Teachable Machine</a:t>
            </a:r>
            <a:endParaRPr lang="en-US" sz="1600" dirty="0"/>
          </a:p>
        </p:txBody>
      </p:sp>
      <p:sp>
        <p:nvSpPr>
          <p:cNvPr id="19" name="Text 14"/>
          <p:cNvSpPr/>
          <p:nvPr/>
        </p:nvSpPr>
        <p:spPr>
          <a:xfrm>
            <a:off x="8460105" y="2835275"/>
            <a:ext cx="3116580" cy="2389188"/>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Teachable Machine allows you to upload images, train classifiers in the browser, and test them with webcam snapshots. This tool is perfect for beginners to explore image recognition without coding.</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rot="21000000">
            <a:off x="1001395" y="1683385"/>
            <a:ext cx="2458085" cy="3895725"/>
          </a:xfrm>
          <a:prstGeom prst="roundRect">
            <a:avLst>
              <a:gd name="adj" fmla="val 16667"/>
            </a:avLst>
          </a:prstGeom>
          <a:gradFill flip="none" rotWithShape="1">
            <a:gsLst>
              <a:gs pos="0">
                <a:srgbClr val="6EAA2E"/>
              </a:gs>
              <a:gs pos="60000">
                <a:srgbClr val="92D050"/>
              </a:gs>
              <a:gs pos="100000">
                <a:srgbClr val="FFFF00"/>
              </a:gs>
            </a:gsLst>
            <a:lin ang="13500000" scaled="1"/>
          </a:gradFill>
          <a:ln/>
        </p:spPr>
      </p:sp>
      <p:sp>
        <p:nvSpPr>
          <p:cNvPr id="5" name="Text 1"/>
          <p:cNvSpPr/>
          <p:nvPr/>
        </p:nvSpPr>
        <p:spPr>
          <a:xfrm rot="21000000">
            <a:off x="1001395" y="1683385"/>
            <a:ext cx="2458085" cy="389572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1123950" y="1897380"/>
            <a:ext cx="2672080" cy="3894455"/>
          </a:xfrm>
          <a:prstGeom prst="roundRect">
            <a:avLst>
              <a:gd name="adj" fmla="val 16667"/>
            </a:avLst>
          </a:prstGeom>
          <a:solidFill>
            <a:srgbClr val="FFFFFF"/>
          </a:solidFill>
          <a:ln w="3175">
            <a:gradFill flip="none" rotWithShape="1">
              <a:gsLst>
                <a:gs pos="0">
                  <a:srgbClr val="FFFFFF"/>
                </a:gs>
                <a:gs pos="45000">
                  <a:srgbClr val="FFFFFF"/>
                </a:gs>
                <a:gs pos="63000">
                  <a:srgbClr val="BEE396"/>
                </a:gs>
                <a:gs pos="84000">
                  <a:srgbClr val="92D050"/>
                </a:gs>
                <a:gs pos="100000">
                  <a:srgbClr val="92D050"/>
                </a:gs>
              </a:gsLst>
              <a:lin ang="2700000" scaled="1"/>
            </a:gradFill>
            <a:prstDash val="solid"/>
          </a:ln>
        </p:spPr>
      </p:sp>
      <p:sp>
        <p:nvSpPr>
          <p:cNvPr id="7" name="Text 3"/>
          <p:cNvSpPr/>
          <p:nvPr/>
        </p:nvSpPr>
        <p:spPr>
          <a:xfrm>
            <a:off x="1123950" y="1897380"/>
            <a:ext cx="2672080" cy="38944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4084955" y="1574800"/>
            <a:ext cx="7435850" cy="1767840"/>
          </a:xfrm>
          <a:prstGeom prst="roundRect">
            <a:avLst>
              <a:gd name="adj" fmla="val 16667"/>
            </a:avLst>
          </a:prstGeom>
          <a:solidFill>
            <a:srgbClr val="FFFFFF"/>
          </a:solidFill>
          <a:ln w="19050">
            <a:gradFill flip="none" rotWithShape="1">
              <a:gsLst>
                <a:gs pos="0">
                  <a:srgbClr val="E9F6DB"/>
                </a:gs>
                <a:gs pos="100000">
                  <a:srgbClr val="92D050"/>
                </a:gs>
              </a:gsLst>
              <a:lin ang="2700000" scaled="1"/>
            </a:gradFill>
            <a:prstDash val="solid"/>
          </a:ln>
        </p:spPr>
      </p:sp>
      <p:sp>
        <p:nvSpPr>
          <p:cNvPr id="9" name="Text 5"/>
          <p:cNvSpPr/>
          <p:nvPr/>
        </p:nvSpPr>
        <p:spPr>
          <a:xfrm>
            <a:off x="4084955" y="1574800"/>
            <a:ext cx="7435850" cy="17678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4323080" y="1795780"/>
            <a:ext cx="1325880" cy="1325880"/>
          </a:xfrm>
          <a:prstGeom prst="roundRect">
            <a:avLst>
              <a:gd name="adj" fmla="val 16667"/>
            </a:avLst>
          </a:prstGeom>
          <a:gradFill flip="none" rotWithShape="1">
            <a:gsLst>
              <a:gs pos="0">
                <a:srgbClr val="92D050"/>
              </a:gs>
              <a:gs pos="29000">
                <a:srgbClr val="92D050"/>
              </a:gs>
              <a:gs pos="100000">
                <a:srgbClr val="FFFF00"/>
              </a:gs>
            </a:gsLst>
            <a:lin ang="13500000" scaled="1"/>
          </a:gradFill>
          <a:ln/>
        </p:spPr>
      </p:sp>
      <p:sp>
        <p:nvSpPr>
          <p:cNvPr id="11" name="Text 7"/>
          <p:cNvSpPr/>
          <p:nvPr/>
        </p:nvSpPr>
        <p:spPr>
          <a:xfrm>
            <a:off x="4323080" y="1795780"/>
            <a:ext cx="1325880" cy="13258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8"/>
          <p:cNvSpPr/>
          <p:nvPr/>
        </p:nvSpPr>
        <p:spPr>
          <a:xfrm>
            <a:off x="4499610" y="2058035"/>
            <a:ext cx="972185" cy="666750"/>
          </a:xfrm>
          <a:prstGeom prst="rect">
            <a:avLst/>
          </a:prstGeom>
          <a:noFill/>
          <a:ln/>
        </p:spPr>
        <p:txBody>
          <a:bodyPr wrap="square" lIns="91440" tIns="45720" rIns="91440" bIns="45720" rtlCol="0" anchor="t">
            <a:spAutoFit/>
          </a:bodyPr>
          <a:lstStyle/>
          <a:p>
            <a:pPr algn="ctr">
              <a:lnSpc>
                <a:spcPct val="100000"/>
              </a:lnSpc>
            </a:pPr>
            <a:r>
              <a:rPr lang="en-US" sz="4400" b="1" dirty="0">
                <a:solidFill>
                  <a:srgbClr val="FFFFFF"/>
                </a:solidFill>
                <a:latin typeface="Microsoft Sans Serif" pitchFamily="34" charset="0"/>
                <a:ea typeface="Microsoft Sans Serif" pitchFamily="34" charset="-122"/>
                <a:cs typeface="Microsoft Sans Serif" pitchFamily="34" charset="-120"/>
              </a:rPr>
              <a:t>01</a:t>
            </a:r>
            <a:endParaRPr lang="en-US" sz="1600" dirty="0"/>
          </a:p>
        </p:txBody>
      </p:sp>
      <p:sp>
        <p:nvSpPr>
          <p:cNvPr id="13" name="Shape 9"/>
          <p:cNvSpPr/>
          <p:nvPr/>
        </p:nvSpPr>
        <p:spPr>
          <a:xfrm>
            <a:off x="4084955" y="3667760"/>
            <a:ext cx="7435850" cy="1767840"/>
          </a:xfrm>
          <a:prstGeom prst="roundRect">
            <a:avLst>
              <a:gd name="adj" fmla="val 16667"/>
            </a:avLst>
          </a:prstGeom>
          <a:solidFill>
            <a:srgbClr val="FFFFFF"/>
          </a:solidFill>
          <a:ln w="19050">
            <a:gradFill flip="none" rotWithShape="1">
              <a:gsLst>
                <a:gs pos="0">
                  <a:srgbClr val="E9F6DB"/>
                </a:gs>
                <a:gs pos="100000">
                  <a:srgbClr val="92D050"/>
                </a:gs>
              </a:gsLst>
              <a:lin ang="2700000" scaled="1"/>
            </a:gradFill>
            <a:prstDash val="solid"/>
          </a:ln>
        </p:spPr>
      </p:sp>
      <p:sp>
        <p:nvSpPr>
          <p:cNvPr id="14" name="Text 10"/>
          <p:cNvSpPr/>
          <p:nvPr/>
        </p:nvSpPr>
        <p:spPr>
          <a:xfrm>
            <a:off x="4084955" y="3667760"/>
            <a:ext cx="7435850" cy="176784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1"/>
          <p:cNvSpPr/>
          <p:nvPr/>
        </p:nvSpPr>
        <p:spPr>
          <a:xfrm>
            <a:off x="4323080" y="3888740"/>
            <a:ext cx="1325880" cy="1325880"/>
          </a:xfrm>
          <a:prstGeom prst="roundRect">
            <a:avLst>
              <a:gd name="adj" fmla="val 16667"/>
            </a:avLst>
          </a:prstGeom>
          <a:gradFill flip="none" rotWithShape="1">
            <a:gsLst>
              <a:gs pos="0">
                <a:srgbClr val="92D050"/>
              </a:gs>
              <a:gs pos="29000">
                <a:srgbClr val="92D050"/>
              </a:gs>
              <a:gs pos="100000">
                <a:srgbClr val="FFFF00"/>
              </a:gs>
            </a:gsLst>
            <a:lin ang="13500000" scaled="1"/>
          </a:gradFill>
          <a:ln/>
        </p:spPr>
      </p:sp>
      <p:sp>
        <p:nvSpPr>
          <p:cNvPr id="16" name="Text 12"/>
          <p:cNvSpPr/>
          <p:nvPr/>
        </p:nvSpPr>
        <p:spPr>
          <a:xfrm>
            <a:off x="4323080" y="3888740"/>
            <a:ext cx="1325880" cy="132588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3"/>
          <p:cNvSpPr/>
          <p:nvPr/>
        </p:nvSpPr>
        <p:spPr>
          <a:xfrm>
            <a:off x="4499610" y="4150995"/>
            <a:ext cx="972185" cy="666750"/>
          </a:xfrm>
          <a:prstGeom prst="rect">
            <a:avLst/>
          </a:prstGeom>
          <a:noFill/>
          <a:ln/>
        </p:spPr>
        <p:txBody>
          <a:bodyPr wrap="square" lIns="91440" tIns="45720" rIns="91440" bIns="45720" rtlCol="0" anchor="t">
            <a:spAutoFit/>
          </a:bodyPr>
          <a:lstStyle/>
          <a:p>
            <a:pPr algn="ctr">
              <a:lnSpc>
                <a:spcPct val="100000"/>
              </a:lnSpc>
            </a:pPr>
            <a:r>
              <a:rPr lang="en-US" sz="4400" b="1" dirty="0">
                <a:solidFill>
                  <a:srgbClr val="FFFFFF"/>
                </a:solidFill>
                <a:latin typeface="Microsoft Sans Serif" pitchFamily="34" charset="0"/>
                <a:ea typeface="Microsoft Sans Serif" pitchFamily="34" charset="-122"/>
                <a:cs typeface="Microsoft Sans Serif" pitchFamily="34" charset="-120"/>
              </a:rPr>
              <a:t>02</a:t>
            </a:r>
            <a:endParaRPr lang="en-US" sz="1600" dirty="0"/>
          </a:p>
        </p:txBody>
      </p:sp>
      <p:sp>
        <p:nvSpPr>
          <p:cNvPr id="18" name="Text 14"/>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NLP Bots and Library Quickstart</a:t>
            </a:r>
            <a:endParaRPr lang="en-US" sz="1600" dirty="0"/>
          </a:p>
        </p:txBody>
      </p:sp>
      <p:sp>
        <p:nvSpPr>
          <p:cNvPr id="19" name="Text 15"/>
          <p:cNvSpPr/>
          <p:nvPr/>
        </p:nvSpPr>
        <p:spPr>
          <a:xfrm>
            <a:off x="1381125" y="2271395"/>
            <a:ext cx="2138971" cy="896144"/>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Natural Language Processing with Libraries</a:t>
            </a:r>
            <a:endParaRPr lang="en-US" sz="1600" dirty="0"/>
          </a:p>
        </p:txBody>
      </p:sp>
      <p:sp>
        <p:nvSpPr>
          <p:cNvPr id="20" name="Text 16"/>
          <p:cNvSpPr/>
          <p:nvPr/>
        </p:nvSpPr>
        <p:spPr>
          <a:xfrm>
            <a:off x="1381125" y="2927985"/>
            <a:ext cx="2176145" cy="2532459"/>
          </a:xfrm>
          <a:prstGeom prst="rect">
            <a:avLst/>
          </a:prstGeom>
          <a:noFill/>
          <a:ln/>
        </p:spPr>
        <p:txBody>
          <a:bodyPr wrap="square" lIns="91440" tIns="45720" rIns="91440" bIns="45720" rtlCol="0" anchor="t">
            <a:spAutoFit/>
          </a:bodyPr>
          <a:lstStyle/>
          <a:p>
            <a:pPr>
              <a:lnSpc>
                <a:spcPct val="120000"/>
              </a:lnSpc>
            </a:pPr>
            <a:r>
              <a:rPr lang="en-US" sz="1400" dirty="0">
                <a:solidFill>
                  <a:srgbClr val="000000"/>
                </a:solidFill>
                <a:latin typeface="Microsoft Sans Serif" pitchFamily="34" charset="0"/>
                <a:ea typeface="Microsoft Sans Serif" pitchFamily="34" charset="-122"/>
                <a:cs typeface="Microsoft Sans Serif" pitchFamily="34" charset="-120"/>
              </a:rPr>
              <a:t>Libraries like spaCy and NLTK enable quick NLP tasks such as tokenizing text, running sentiment analysis, and extracting keywords. These tools make it easy to build chatbots and analyze text data.</a:t>
            </a:r>
            <a:endParaRPr lang="en-US" sz="1600" dirty="0"/>
          </a:p>
        </p:txBody>
      </p:sp>
      <p:sp>
        <p:nvSpPr>
          <p:cNvPr id="21" name="Text 17"/>
          <p:cNvSpPr/>
          <p:nvPr/>
        </p:nvSpPr>
        <p:spPr>
          <a:xfrm>
            <a:off x="5907405" y="1724660"/>
            <a:ext cx="542353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Building Chatbots</a:t>
            </a:r>
            <a:endParaRPr lang="en-US" sz="1600" dirty="0"/>
          </a:p>
        </p:txBody>
      </p:sp>
      <p:sp>
        <p:nvSpPr>
          <p:cNvPr id="22" name="Text 18"/>
          <p:cNvSpPr/>
          <p:nvPr/>
        </p:nvSpPr>
        <p:spPr>
          <a:xfrm>
            <a:off x="5907405" y="2076450"/>
            <a:ext cx="5423535" cy="844153"/>
          </a:xfrm>
          <a:prstGeom prst="rect">
            <a:avLst/>
          </a:prstGeom>
          <a:noFill/>
          <a:ln/>
        </p:spPr>
        <p:txBody>
          <a:bodyPr wrap="square" lIns="91440" tIns="45720" rIns="91440" bIns="45720" rtlCol="0" anchor="t">
            <a:spAutoFit/>
          </a:bodyPr>
          <a:lstStyle/>
          <a:p>
            <a:pPr>
              <a:lnSpc>
                <a:spcPct val="120000"/>
              </a:lnSpc>
            </a:pPr>
            <a:r>
              <a:rPr lang="en-US" sz="1400" dirty="0">
                <a:solidFill>
                  <a:srgbClr val="000000"/>
                </a:solidFill>
                <a:latin typeface="Microsoft Sans Serif" pitchFamily="34" charset="0"/>
                <a:ea typeface="Microsoft Sans Serif" pitchFamily="34" charset="-122"/>
                <a:cs typeface="Microsoft Sans Serif" pitchFamily="34" charset="-120"/>
              </a:rPr>
              <a:t>With a few lines of Python, you can create chatbots that answer FAQs. This demonstrates how accessible NLP is for various applications, from customer service to educational tools.</a:t>
            </a:r>
            <a:endParaRPr lang="en-US" sz="1600" dirty="0"/>
          </a:p>
        </p:txBody>
      </p:sp>
      <p:sp>
        <p:nvSpPr>
          <p:cNvPr id="23" name="Text 19"/>
          <p:cNvSpPr/>
          <p:nvPr/>
        </p:nvSpPr>
        <p:spPr>
          <a:xfrm>
            <a:off x="5907405" y="3817620"/>
            <a:ext cx="542353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Democratizing Text-Based ML</a:t>
            </a:r>
            <a:endParaRPr lang="en-US" sz="1600" dirty="0"/>
          </a:p>
        </p:txBody>
      </p:sp>
      <p:sp>
        <p:nvSpPr>
          <p:cNvPr id="24" name="Text 20"/>
          <p:cNvSpPr/>
          <p:nvPr/>
        </p:nvSpPr>
        <p:spPr>
          <a:xfrm>
            <a:off x="5907405" y="4169410"/>
            <a:ext cx="5423535" cy="844153"/>
          </a:xfrm>
          <a:prstGeom prst="rect">
            <a:avLst/>
          </a:prstGeom>
          <a:noFill/>
          <a:ln/>
        </p:spPr>
        <p:txBody>
          <a:bodyPr wrap="square" lIns="91440" tIns="45720" rIns="91440" bIns="45720" rtlCol="0" anchor="t">
            <a:spAutoFit/>
          </a:bodyPr>
          <a:lstStyle/>
          <a:p>
            <a:pPr>
              <a:lnSpc>
                <a:spcPct val="120000"/>
              </a:lnSpc>
            </a:pPr>
            <a:r>
              <a:rPr lang="en-US" sz="1400" dirty="0">
                <a:solidFill>
                  <a:srgbClr val="000000"/>
                </a:solidFill>
                <a:latin typeface="Microsoft Sans Serif" pitchFamily="34" charset="0"/>
                <a:ea typeface="Microsoft Sans Serif" pitchFamily="34" charset="-122"/>
                <a:cs typeface="Microsoft Sans Serif" pitchFamily="34" charset="-120"/>
              </a:rPr>
              <a:t>Open-source libraries democratize text-based ML, making it accessible to marketers, teachers, and hobbyists. This fosters innovation and broadens the application of ML in everyday tasks.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04</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Ethics Lens</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635" y="-1905"/>
            <a:ext cx="4740275" cy="6859905"/>
          </a:xfrm>
          <a:prstGeom prst="rect">
            <a:avLst/>
          </a:prstGeom>
          <a:gradFill flip="none" rotWithShape="1">
            <a:gsLst>
              <a:gs pos="0">
                <a:srgbClr val="92D050"/>
              </a:gs>
              <a:gs pos="100000">
                <a:srgbClr val="6EAA2E"/>
              </a:gs>
            </a:gsLst>
            <a:lin ang="18900000" scaled="1"/>
          </a:gradFill>
          <a:ln/>
        </p:spPr>
      </p:sp>
      <p:sp>
        <p:nvSpPr>
          <p:cNvPr id="5" name="Text 1"/>
          <p:cNvSpPr/>
          <p:nvPr/>
        </p:nvSpPr>
        <p:spPr>
          <a:xfrm>
            <a:off x="-635" y="-1905"/>
            <a:ext cx="4740275" cy="685990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406400" y="1508760"/>
            <a:ext cx="3535680" cy="4556760"/>
          </a:xfrm>
          <a:prstGeom prst="roundRect">
            <a:avLst>
              <a:gd name="adj" fmla="val 6321"/>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7" name="Text 3"/>
          <p:cNvSpPr/>
          <p:nvPr/>
        </p:nvSpPr>
        <p:spPr>
          <a:xfrm>
            <a:off x="406400" y="1508760"/>
            <a:ext cx="3535680" cy="4556760"/>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4"/>
          <p:cNvSpPr/>
          <p:nvPr/>
        </p:nvSpPr>
        <p:spPr>
          <a:xfrm>
            <a:off x="325120" y="319405"/>
            <a:ext cx="3785235" cy="886817"/>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Microsoft Sans Serif" pitchFamily="34" charset="0"/>
                <a:ea typeface="Microsoft Sans Serif" pitchFamily="34" charset="-122"/>
                <a:cs typeface="Microsoft Sans Serif" pitchFamily="34" charset="-120"/>
              </a:rPr>
              <a:t>Bias Privacy and Transparency Traps</a:t>
            </a:r>
            <a:endParaRPr lang="en-US" sz="1600" dirty="0"/>
          </a:p>
        </p:txBody>
      </p:sp>
      <p:sp>
        <p:nvSpPr>
          <p:cNvPr id="9" name="Shape 5"/>
          <p:cNvSpPr/>
          <p:nvPr/>
        </p:nvSpPr>
        <p:spPr>
          <a:xfrm>
            <a:off x="568325" y="2587625"/>
            <a:ext cx="3178810" cy="0"/>
          </a:xfrm>
          <a:prstGeom prst="line">
            <a:avLst/>
          </a:prstGeom>
          <a:noFill/>
          <a:ln w="31750">
            <a:solidFill>
              <a:srgbClr val="92D050"/>
            </a:solidFill>
            <a:prstDash val="solid"/>
            <a:headEnd type="none"/>
            <a:tailEnd type="none"/>
          </a:ln>
        </p:spPr>
      </p:sp>
      <p:sp>
        <p:nvSpPr>
          <p:cNvPr id="10" name="Shape 6"/>
          <p:cNvSpPr/>
          <p:nvPr/>
        </p:nvSpPr>
        <p:spPr>
          <a:xfrm>
            <a:off x="568325" y="2498725"/>
            <a:ext cx="3178810" cy="0"/>
          </a:xfrm>
          <a:prstGeom prst="line">
            <a:avLst/>
          </a:prstGeom>
          <a:noFill/>
          <a:ln w="12700">
            <a:solidFill>
              <a:srgbClr val="92D050"/>
            </a:solidFill>
            <a:prstDash val="solid"/>
            <a:headEnd type="none"/>
            <a:tailEnd type="none"/>
          </a:ln>
        </p:spPr>
      </p:sp>
      <p:sp>
        <p:nvSpPr>
          <p:cNvPr id="11" name="Shape 7"/>
          <p:cNvSpPr/>
          <p:nvPr/>
        </p:nvSpPr>
        <p:spPr>
          <a:xfrm>
            <a:off x="5000625" y="1233805"/>
            <a:ext cx="6316980" cy="1905635"/>
          </a:xfrm>
          <a:prstGeom prst="roundRect">
            <a:avLst>
              <a:gd name="adj" fmla="val 6321"/>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2" name="Text 8"/>
          <p:cNvSpPr/>
          <p:nvPr/>
        </p:nvSpPr>
        <p:spPr>
          <a:xfrm>
            <a:off x="5000625" y="1233805"/>
            <a:ext cx="6316980" cy="1905635"/>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9"/>
          <p:cNvSpPr/>
          <p:nvPr/>
        </p:nvSpPr>
        <p:spPr>
          <a:xfrm rot="5400000">
            <a:off x="5269230" y="1395095"/>
            <a:ext cx="271145" cy="252730"/>
          </a:xfrm>
          <a:prstGeom prst="triangle">
            <a:avLst>
              <a:gd name="adj" fmla="val 50000"/>
            </a:avLst>
          </a:prstGeom>
          <a:solidFill>
            <a:srgbClr val="6EAA2E"/>
          </a:solidFill>
          <a:ln/>
        </p:spPr>
      </p:sp>
      <p:sp>
        <p:nvSpPr>
          <p:cNvPr id="14" name="Text 10"/>
          <p:cNvSpPr/>
          <p:nvPr/>
        </p:nvSpPr>
        <p:spPr>
          <a:xfrm rot="5400000">
            <a:off x="5269230" y="1395095"/>
            <a:ext cx="271145" cy="25273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1"/>
          <p:cNvSpPr/>
          <p:nvPr/>
        </p:nvSpPr>
        <p:spPr>
          <a:xfrm>
            <a:off x="5000625" y="3707765"/>
            <a:ext cx="6316980" cy="1905635"/>
          </a:xfrm>
          <a:prstGeom prst="roundRect">
            <a:avLst>
              <a:gd name="adj" fmla="val 6321"/>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6" name="Text 12"/>
          <p:cNvSpPr/>
          <p:nvPr/>
        </p:nvSpPr>
        <p:spPr>
          <a:xfrm>
            <a:off x="5000625" y="3707765"/>
            <a:ext cx="6316980" cy="1905635"/>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3"/>
          <p:cNvSpPr/>
          <p:nvPr/>
        </p:nvSpPr>
        <p:spPr>
          <a:xfrm rot="5400000">
            <a:off x="5269230" y="3869055"/>
            <a:ext cx="271145" cy="252730"/>
          </a:xfrm>
          <a:prstGeom prst="triangle">
            <a:avLst>
              <a:gd name="adj" fmla="val 50000"/>
            </a:avLst>
          </a:prstGeom>
          <a:solidFill>
            <a:srgbClr val="6EAA2E"/>
          </a:solidFill>
          <a:ln/>
        </p:spPr>
      </p:sp>
      <p:sp>
        <p:nvSpPr>
          <p:cNvPr id="18" name="Text 14"/>
          <p:cNvSpPr/>
          <p:nvPr/>
        </p:nvSpPr>
        <p:spPr>
          <a:xfrm rot="5400000">
            <a:off x="5269230" y="3869055"/>
            <a:ext cx="271145" cy="25273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Text 15"/>
          <p:cNvSpPr/>
          <p:nvPr/>
        </p:nvSpPr>
        <p:spPr>
          <a:xfrm>
            <a:off x="568325" y="1746250"/>
            <a:ext cx="3178810" cy="306784"/>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000000"/>
                </a:solidFill>
                <a:latin typeface="Microsoft Sans Serif" pitchFamily="34" charset="0"/>
                <a:ea typeface="Microsoft Sans Serif" pitchFamily="34" charset="-122"/>
                <a:cs typeface="Microsoft Sans Serif" pitchFamily="34" charset="-120"/>
              </a:rPr>
              <a:t>Bias in ML Models</a:t>
            </a:r>
            <a:endParaRPr lang="en-US" sz="1600" dirty="0"/>
          </a:p>
        </p:txBody>
      </p:sp>
      <p:sp>
        <p:nvSpPr>
          <p:cNvPr id="20" name="Text 16"/>
          <p:cNvSpPr/>
          <p:nvPr/>
        </p:nvSpPr>
        <p:spPr>
          <a:xfrm>
            <a:off x="568960" y="2661920"/>
            <a:ext cx="3182620" cy="2194719"/>
          </a:xfrm>
          <a:prstGeom prst="rect">
            <a:avLst/>
          </a:prstGeom>
          <a:noFill/>
          <a:ln/>
        </p:spPr>
        <p:txBody>
          <a:bodyPr wrap="square" lIns="91440" tIns="45720" rIns="91440" bIns="45720" rtlCol="0" anchor="t">
            <a:spAutoFit/>
          </a:bodyPr>
          <a:lstStyle/>
          <a:p>
            <a:pPr>
              <a:lnSpc>
                <a:spcPct val="150000"/>
              </a:lnSpc>
            </a:pPr>
            <a:r>
              <a:rPr lang="en-US" sz="1600" dirty="0">
                <a:solidFill>
                  <a:srgbClr val="000000"/>
                </a:solidFill>
                <a:latin typeface="Microsoft Sans Serif" pitchFamily="34" charset="0"/>
                <a:ea typeface="Microsoft Sans Serif" pitchFamily="34" charset="-122"/>
                <a:cs typeface="Microsoft Sans Serif" pitchFamily="34" charset="-120"/>
              </a:rPr>
              <a:t>Historical data can introduce gender, race, or socioeconomic bias into ML models, leading to unfair outcomes. Regular audits and fairness checks are essential to mitigate this risk.</a:t>
            </a:r>
            <a:endParaRPr lang="en-US" sz="1600" dirty="0"/>
          </a:p>
        </p:txBody>
      </p:sp>
      <p:sp>
        <p:nvSpPr>
          <p:cNvPr id="21" name="Text 17"/>
          <p:cNvSpPr/>
          <p:nvPr/>
        </p:nvSpPr>
        <p:spPr>
          <a:xfrm>
            <a:off x="5586095" y="1362710"/>
            <a:ext cx="547560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Privacy Concerns</a:t>
            </a:r>
            <a:endParaRPr lang="en-US" sz="1600" dirty="0"/>
          </a:p>
        </p:txBody>
      </p:sp>
      <p:sp>
        <p:nvSpPr>
          <p:cNvPr id="22" name="Text 18"/>
          <p:cNvSpPr/>
          <p:nvPr/>
        </p:nvSpPr>
        <p:spPr>
          <a:xfrm>
            <a:off x="5163185" y="1706245"/>
            <a:ext cx="5905500" cy="960041"/>
          </a:xfrm>
          <a:prstGeom prst="rect">
            <a:avLst/>
          </a:prstGeom>
          <a:noFill/>
          <a:ln/>
        </p:spPr>
        <p:txBody>
          <a:bodyPr wrap="square" lIns="91440" tIns="45720" rIns="91440" bIns="45720" rtlCol="0" anchor="t">
            <a:spAutoFit/>
          </a:bodyPr>
          <a:lstStyle/>
          <a:p>
            <a:pPr>
              <a:lnSpc>
                <a:spcPct val="150000"/>
              </a:lnSpc>
            </a:pPr>
            <a:r>
              <a:rPr lang="en-US" sz="1400" dirty="0">
                <a:solidFill>
                  <a:srgbClr val="000000"/>
                </a:solidFill>
                <a:latin typeface="Microsoft Sans Serif" pitchFamily="34" charset="0"/>
                <a:ea typeface="Microsoft Sans Serif" pitchFamily="34" charset="-122"/>
                <a:cs typeface="Microsoft Sans Serif" pitchFamily="34" charset="-120"/>
              </a:rPr>
              <a:t>Personal data used for training ML models must be protected. Techniques like anonymization and federated learning help preserve privacy while leveraging data.</a:t>
            </a:r>
            <a:endParaRPr lang="en-US" sz="1600" dirty="0"/>
          </a:p>
        </p:txBody>
      </p:sp>
      <p:sp>
        <p:nvSpPr>
          <p:cNvPr id="23" name="Text 19"/>
          <p:cNvSpPr/>
          <p:nvPr/>
        </p:nvSpPr>
        <p:spPr>
          <a:xfrm>
            <a:off x="5586095" y="3836670"/>
            <a:ext cx="547560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Transparency and Explainability</a:t>
            </a:r>
            <a:endParaRPr lang="en-US" sz="1600" dirty="0"/>
          </a:p>
        </p:txBody>
      </p:sp>
      <p:sp>
        <p:nvSpPr>
          <p:cNvPr id="24" name="Text 20"/>
          <p:cNvSpPr/>
          <p:nvPr/>
        </p:nvSpPr>
        <p:spPr>
          <a:xfrm>
            <a:off x="5163185" y="4180205"/>
            <a:ext cx="5905500" cy="960041"/>
          </a:xfrm>
          <a:prstGeom prst="rect">
            <a:avLst/>
          </a:prstGeom>
          <a:noFill/>
          <a:ln/>
        </p:spPr>
        <p:txBody>
          <a:bodyPr wrap="square" lIns="91440" tIns="45720" rIns="91440" bIns="45720" rtlCol="0" anchor="t">
            <a:spAutoFit/>
          </a:bodyPr>
          <a:lstStyle/>
          <a:p>
            <a:pPr>
              <a:lnSpc>
                <a:spcPct val="150000"/>
              </a:lnSpc>
            </a:pPr>
            <a:r>
              <a:rPr lang="en-US" sz="1400" dirty="0">
                <a:solidFill>
                  <a:srgbClr val="000000"/>
                </a:solidFill>
                <a:latin typeface="Microsoft Sans Serif" pitchFamily="34" charset="0"/>
                <a:ea typeface="Microsoft Sans Serif" pitchFamily="34" charset="-122"/>
                <a:cs typeface="Microsoft Sans Serif" pitchFamily="34" charset="-120"/>
              </a:rPr>
              <a:t>Complex ML models can be opaque, making it hard to understand their decisions. Explainable AI techniques are crucial for ensuring transparency and accountability.</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1487805" y="1603375"/>
            <a:ext cx="8989695" cy="1905635"/>
          </a:xfrm>
          <a:prstGeom prst="roundRect">
            <a:avLst>
              <a:gd name="adj" fmla="val 6321"/>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5" name="Text 1"/>
          <p:cNvSpPr/>
          <p:nvPr/>
        </p:nvSpPr>
        <p:spPr>
          <a:xfrm>
            <a:off x="1487805" y="1603375"/>
            <a:ext cx="8989695" cy="19056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1778000" y="2115185"/>
            <a:ext cx="7367270" cy="76200"/>
          </a:xfrm>
          <a:prstGeom prst="parallelogram">
            <a:avLst>
              <a:gd name="adj" fmla="val 25000"/>
            </a:avLst>
          </a:prstGeom>
          <a:gradFill flip="none" rotWithShape="1">
            <a:gsLst>
              <a:gs pos="0">
                <a:srgbClr val="92D050"/>
              </a:gs>
              <a:gs pos="29000">
                <a:srgbClr val="92D050"/>
              </a:gs>
              <a:gs pos="100000">
                <a:srgbClr val="FFFF00">
                  <a:alpha val="0"/>
                </a:srgbClr>
              </a:gs>
            </a:gsLst>
            <a:lin ang="0" scaled="1"/>
          </a:gradFill>
          <a:ln/>
        </p:spPr>
      </p:sp>
      <p:sp>
        <p:nvSpPr>
          <p:cNvPr id="7" name="Text 3"/>
          <p:cNvSpPr/>
          <p:nvPr/>
        </p:nvSpPr>
        <p:spPr>
          <a:xfrm>
            <a:off x="1778000" y="2115185"/>
            <a:ext cx="736727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487805" y="3849370"/>
            <a:ext cx="8989695" cy="1905635"/>
          </a:xfrm>
          <a:prstGeom prst="roundRect">
            <a:avLst>
              <a:gd name="adj" fmla="val 6321"/>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9" name="Text 5"/>
          <p:cNvSpPr/>
          <p:nvPr/>
        </p:nvSpPr>
        <p:spPr>
          <a:xfrm>
            <a:off x="1487805" y="3849370"/>
            <a:ext cx="8989695" cy="190563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1778000" y="4361180"/>
            <a:ext cx="7367270" cy="76200"/>
          </a:xfrm>
          <a:prstGeom prst="parallelogram">
            <a:avLst>
              <a:gd name="adj" fmla="val 25000"/>
            </a:avLst>
          </a:prstGeom>
          <a:gradFill flip="none" rotWithShape="1">
            <a:gsLst>
              <a:gs pos="0">
                <a:srgbClr val="92D050"/>
              </a:gs>
              <a:gs pos="29000">
                <a:srgbClr val="92D050"/>
              </a:gs>
              <a:gs pos="100000">
                <a:srgbClr val="FFFF00">
                  <a:alpha val="0"/>
                </a:srgbClr>
              </a:gs>
            </a:gsLst>
            <a:lin ang="0" scaled="1"/>
          </a:gradFill>
          <a:ln/>
        </p:spPr>
      </p:sp>
      <p:sp>
        <p:nvSpPr>
          <p:cNvPr id="11" name="Text 7"/>
          <p:cNvSpPr/>
          <p:nvPr/>
        </p:nvSpPr>
        <p:spPr>
          <a:xfrm>
            <a:off x="1778000" y="4361180"/>
            <a:ext cx="736727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8"/>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Jobs Manipulation and Accountability</a:t>
            </a:r>
            <a:endParaRPr lang="en-US" sz="1600" dirty="0"/>
          </a:p>
        </p:txBody>
      </p:sp>
      <p:sp>
        <p:nvSpPr>
          <p:cNvPr id="13" name="Text 9"/>
          <p:cNvSpPr/>
          <p:nvPr/>
        </p:nvSpPr>
        <p:spPr>
          <a:xfrm>
            <a:off x="1737995" y="1732280"/>
            <a:ext cx="779208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Impact on Employment</a:t>
            </a:r>
            <a:endParaRPr lang="en-US" sz="1600" dirty="0"/>
          </a:p>
        </p:txBody>
      </p:sp>
      <p:sp>
        <p:nvSpPr>
          <p:cNvPr id="14" name="Text 10"/>
          <p:cNvSpPr/>
          <p:nvPr/>
        </p:nvSpPr>
        <p:spPr>
          <a:xfrm>
            <a:off x="1718945" y="2205355"/>
            <a:ext cx="8404225" cy="682625"/>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Automation driven by ML can displace routine analytical roles. Reskilling programs and new job opportunities in ML development and oversight are essential to manage this transition.</a:t>
            </a:r>
            <a:endParaRPr lang="en-US" sz="1600" dirty="0"/>
          </a:p>
        </p:txBody>
      </p:sp>
      <p:sp>
        <p:nvSpPr>
          <p:cNvPr id="15" name="Text 11"/>
          <p:cNvSpPr/>
          <p:nvPr/>
        </p:nvSpPr>
        <p:spPr>
          <a:xfrm>
            <a:off x="1737995" y="3978275"/>
            <a:ext cx="7792085"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000000"/>
                </a:solidFill>
                <a:latin typeface="Microsoft Sans Serif" pitchFamily="34" charset="0"/>
                <a:ea typeface="Microsoft Sans Serif" pitchFamily="34" charset="-122"/>
                <a:cs typeface="Microsoft Sans Serif" pitchFamily="34" charset="-120"/>
              </a:rPr>
              <a:t>Accountability and Regulation</a:t>
            </a:r>
            <a:endParaRPr lang="en-US" sz="1600" dirty="0"/>
          </a:p>
        </p:txBody>
      </p:sp>
      <p:sp>
        <p:nvSpPr>
          <p:cNvPr id="16" name="Text 12"/>
          <p:cNvSpPr/>
          <p:nvPr/>
        </p:nvSpPr>
        <p:spPr>
          <a:xfrm>
            <a:off x="1718945" y="4451350"/>
            <a:ext cx="8404225" cy="682625"/>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Regulatory frameworks are necessary to ensure that ML applications align with public interest, prevent misuse, and maintain ethical standards.</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05</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Capstone Sprint</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rot="21360000">
            <a:off x="860425" y="1380490"/>
            <a:ext cx="4177665" cy="1917065"/>
          </a:xfrm>
          <a:prstGeom prst="roundRect">
            <a:avLst>
              <a:gd name="adj" fmla="val 16667"/>
            </a:avLst>
          </a:prstGeom>
          <a:gradFill flip="none" rotWithShape="1">
            <a:gsLst>
              <a:gs pos="0">
                <a:srgbClr val="6EAA2E"/>
              </a:gs>
              <a:gs pos="53000">
                <a:srgbClr val="92D050"/>
              </a:gs>
              <a:gs pos="91000">
                <a:srgbClr val="C9E828"/>
              </a:gs>
              <a:gs pos="100000">
                <a:srgbClr val="C9E828"/>
              </a:gs>
            </a:gsLst>
            <a:lin ang="13500000" scaled="1"/>
          </a:gradFill>
          <a:ln/>
        </p:spPr>
      </p:sp>
      <p:sp>
        <p:nvSpPr>
          <p:cNvPr id="5" name="Text 1"/>
          <p:cNvSpPr/>
          <p:nvPr/>
        </p:nvSpPr>
        <p:spPr>
          <a:xfrm rot="21360000">
            <a:off x="860425" y="1380490"/>
            <a:ext cx="4177665" cy="191706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958850" y="1407160"/>
            <a:ext cx="4714240" cy="2163445"/>
          </a:xfrm>
          <a:prstGeom prst="roundRect">
            <a:avLst>
              <a:gd name="adj" fmla="val 10334"/>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7" name="Text 3"/>
          <p:cNvSpPr/>
          <p:nvPr/>
        </p:nvSpPr>
        <p:spPr>
          <a:xfrm>
            <a:off x="958850" y="1407160"/>
            <a:ext cx="4714240" cy="216344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rot="21360000">
            <a:off x="6443345" y="1380490"/>
            <a:ext cx="4177665" cy="1917065"/>
          </a:xfrm>
          <a:prstGeom prst="roundRect">
            <a:avLst>
              <a:gd name="adj" fmla="val 16667"/>
            </a:avLst>
          </a:prstGeom>
          <a:gradFill flip="none" rotWithShape="1">
            <a:gsLst>
              <a:gs pos="0">
                <a:srgbClr val="6EAA2E"/>
              </a:gs>
              <a:gs pos="53000">
                <a:srgbClr val="92D050"/>
              </a:gs>
              <a:gs pos="91000">
                <a:srgbClr val="C9E828"/>
              </a:gs>
              <a:gs pos="100000">
                <a:srgbClr val="C9E828"/>
              </a:gs>
            </a:gsLst>
            <a:lin ang="13500000" scaled="1"/>
          </a:gradFill>
          <a:ln/>
        </p:spPr>
      </p:sp>
      <p:sp>
        <p:nvSpPr>
          <p:cNvPr id="9" name="Text 5"/>
          <p:cNvSpPr/>
          <p:nvPr/>
        </p:nvSpPr>
        <p:spPr>
          <a:xfrm rot="21360000">
            <a:off x="6443345" y="1380490"/>
            <a:ext cx="4177665" cy="191706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6541770" y="1407160"/>
            <a:ext cx="4714240" cy="2163445"/>
          </a:xfrm>
          <a:prstGeom prst="roundRect">
            <a:avLst>
              <a:gd name="adj" fmla="val 10334"/>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1" name="Text 7"/>
          <p:cNvSpPr/>
          <p:nvPr/>
        </p:nvSpPr>
        <p:spPr>
          <a:xfrm>
            <a:off x="6541770" y="1407160"/>
            <a:ext cx="4714240" cy="2163445"/>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rot="21360000">
            <a:off x="860425" y="3900170"/>
            <a:ext cx="4177665" cy="1917065"/>
          </a:xfrm>
          <a:prstGeom prst="roundRect">
            <a:avLst>
              <a:gd name="adj" fmla="val 16667"/>
            </a:avLst>
          </a:prstGeom>
          <a:gradFill flip="none" rotWithShape="1">
            <a:gsLst>
              <a:gs pos="0">
                <a:srgbClr val="6EAA2E"/>
              </a:gs>
              <a:gs pos="53000">
                <a:srgbClr val="92D050"/>
              </a:gs>
              <a:gs pos="91000">
                <a:srgbClr val="C9E828"/>
              </a:gs>
              <a:gs pos="100000">
                <a:srgbClr val="C9E828"/>
              </a:gs>
            </a:gsLst>
            <a:lin ang="13500000" scaled="1"/>
          </a:gradFill>
          <a:ln/>
        </p:spPr>
      </p:sp>
      <p:sp>
        <p:nvSpPr>
          <p:cNvPr id="13" name="Text 9"/>
          <p:cNvSpPr/>
          <p:nvPr/>
        </p:nvSpPr>
        <p:spPr>
          <a:xfrm rot="21360000">
            <a:off x="860425" y="3900170"/>
            <a:ext cx="4177665" cy="191706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a:off x="958850" y="3926840"/>
            <a:ext cx="4714240" cy="2163445"/>
          </a:xfrm>
          <a:prstGeom prst="roundRect">
            <a:avLst>
              <a:gd name="adj" fmla="val 10334"/>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5" name="Text 11"/>
          <p:cNvSpPr/>
          <p:nvPr/>
        </p:nvSpPr>
        <p:spPr>
          <a:xfrm>
            <a:off x="958850" y="3926840"/>
            <a:ext cx="4714240" cy="216344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rot="21360000">
            <a:off x="6443345" y="3900170"/>
            <a:ext cx="4177665" cy="1917065"/>
          </a:xfrm>
          <a:prstGeom prst="roundRect">
            <a:avLst>
              <a:gd name="adj" fmla="val 16667"/>
            </a:avLst>
          </a:prstGeom>
          <a:gradFill flip="none" rotWithShape="1">
            <a:gsLst>
              <a:gs pos="0">
                <a:srgbClr val="6EAA2E"/>
              </a:gs>
              <a:gs pos="53000">
                <a:srgbClr val="92D050"/>
              </a:gs>
              <a:gs pos="91000">
                <a:srgbClr val="C9E828"/>
              </a:gs>
              <a:gs pos="100000">
                <a:srgbClr val="C9E828"/>
              </a:gs>
            </a:gsLst>
            <a:lin ang="13500000" scaled="1"/>
          </a:gradFill>
          <a:ln/>
        </p:spPr>
      </p:sp>
      <p:sp>
        <p:nvSpPr>
          <p:cNvPr id="17" name="Text 13"/>
          <p:cNvSpPr/>
          <p:nvPr/>
        </p:nvSpPr>
        <p:spPr>
          <a:xfrm rot="21360000">
            <a:off x="6443345" y="3900170"/>
            <a:ext cx="4177665" cy="191706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4"/>
          <p:cNvSpPr/>
          <p:nvPr/>
        </p:nvSpPr>
        <p:spPr>
          <a:xfrm>
            <a:off x="6541770" y="3926840"/>
            <a:ext cx="4714240" cy="2163445"/>
          </a:xfrm>
          <a:prstGeom prst="roundRect">
            <a:avLst>
              <a:gd name="adj" fmla="val 10334"/>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9" name="Text 15"/>
          <p:cNvSpPr/>
          <p:nvPr/>
        </p:nvSpPr>
        <p:spPr>
          <a:xfrm>
            <a:off x="6541770" y="3926840"/>
            <a:ext cx="4714240" cy="2163445"/>
          </a:xfrm>
          <a:prstGeom prst="rect">
            <a:avLst/>
          </a:prstGeom>
          <a:noFill/>
          <a:ln/>
        </p:spPr>
        <p:txBody>
          <a:bodyPr wrap="square" lIns="45720" tIns="91440" rIns="91440" bIns="45720" rtlCol="0" anchor="ctr"/>
          <a:lstStyle/>
          <a:p>
            <a:pPr>
              <a:lnSpc>
                <a:spcPct val="100000"/>
              </a:lnSpc>
            </a:pPr>
            <a:endParaRPr lang="en-US" sz="1600" dirty="0"/>
          </a:p>
        </p:txBody>
      </p:sp>
      <p:sp>
        <p:nvSpPr>
          <p:cNvPr id="20" name="Text 16"/>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Mini Project Pick Your Dataset</a:t>
            </a:r>
            <a:endParaRPr lang="en-US" sz="1600" dirty="0"/>
          </a:p>
        </p:txBody>
      </p:sp>
      <p:sp>
        <p:nvSpPr>
          <p:cNvPr id="21" name="Text 17"/>
          <p:cNvSpPr/>
          <p:nvPr/>
        </p:nvSpPr>
        <p:spPr>
          <a:xfrm>
            <a:off x="1217930" y="1621155"/>
            <a:ext cx="431800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Choosing a Dataset</a:t>
            </a:r>
            <a:endParaRPr lang="en-US" sz="1600" dirty="0"/>
          </a:p>
        </p:txBody>
      </p:sp>
      <p:sp>
        <p:nvSpPr>
          <p:cNvPr id="22" name="Text 18"/>
          <p:cNvSpPr/>
          <p:nvPr/>
        </p:nvSpPr>
        <p:spPr>
          <a:xfrm>
            <a:off x="1198880" y="2018665"/>
            <a:ext cx="4394200" cy="883047"/>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Select a dataset like Titanic survival, handwritten digits, or tweet sentiment. Define a clear target variable and split the data into training and test sets.</a:t>
            </a:r>
            <a:endParaRPr lang="en-US" sz="1600" dirty="0"/>
          </a:p>
        </p:txBody>
      </p:sp>
      <p:sp>
        <p:nvSpPr>
          <p:cNvPr id="23" name="Text 19"/>
          <p:cNvSpPr/>
          <p:nvPr/>
        </p:nvSpPr>
        <p:spPr>
          <a:xfrm>
            <a:off x="1217930" y="4140835"/>
            <a:ext cx="431800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Formulating a Question</a:t>
            </a:r>
            <a:endParaRPr lang="en-US" sz="1600" dirty="0"/>
          </a:p>
        </p:txBody>
      </p:sp>
      <p:sp>
        <p:nvSpPr>
          <p:cNvPr id="24" name="Text 20"/>
          <p:cNvSpPr/>
          <p:nvPr/>
        </p:nvSpPr>
        <p:spPr>
          <a:xfrm>
            <a:off x="1198880" y="4538345"/>
            <a:ext cx="4394200" cy="883047"/>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Frame a specific question you want to answer with your dataset. This guides your feature selection and model choice, ensuring a focused approach.</a:t>
            </a:r>
            <a:endParaRPr lang="en-US" sz="1600" dirty="0"/>
          </a:p>
        </p:txBody>
      </p:sp>
      <p:sp>
        <p:nvSpPr>
          <p:cNvPr id="25" name="Text 21"/>
          <p:cNvSpPr/>
          <p:nvPr/>
        </p:nvSpPr>
        <p:spPr>
          <a:xfrm>
            <a:off x="6800850" y="1621155"/>
            <a:ext cx="431800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Training a Baseline Model</a:t>
            </a:r>
            <a:endParaRPr lang="en-US" sz="1600" dirty="0"/>
          </a:p>
        </p:txBody>
      </p:sp>
      <p:sp>
        <p:nvSpPr>
          <p:cNvPr id="26" name="Text 22"/>
          <p:cNvSpPr/>
          <p:nvPr/>
        </p:nvSpPr>
        <p:spPr>
          <a:xfrm>
            <a:off x="6781800" y="2018665"/>
            <a:ext cx="4394200" cy="1177330"/>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Train a simple model like logistic regression or a decision tree to establish a baseline. This helps in understanding the initial performance and areas for improvement.</a:t>
            </a:r>
            <a:endParaRPr lang="en-US" sz="1600" dirty="0"/>
          </a:p>
        </p:txBody>
      </p:sp>
      <p:sp>
        <p:nvSpPr>
          <p:cNvPr id="27" name="Text 23"/>
          <p:cNvSpPr/>
          <p:nvPr/>
        </p:nvSpPr>
        <p:spPr>
          <a:xfrm>
            <a:off x="6800850" y="4140835"/>
            <a:ext cx="4318000" cy="279598"/>
          </a:xfrm>
          <a:prstGeom prst="rect">
            <a:avLst/>
          </a:prstGeom>
          <a:noFill/>
          <a:ln/>
        </p:spPr>
        <p:txBody>
          <a:bodyPr wrap="square" lIns="91440" tIns="45720" rIns="91440" bIns="45720" rtlCol="0" anchor="t">
            <a:spAutoFit/>
          </a:bodyPr>
          <a:lstStyle/>
          <a:p>
            <a:pPr>
              <a:lnSpc>
                <a:spcPct val="100000"/>
              </a:lnSpc>
            </a:pPr>
            <a:r>
              <a:rPr lang="en-US" sz="1800" b="1" dirty="0">
                <a:solidFill>
                  <a:srgbClr val="49711E"/>
                </a:solidFill>
                <a:latin typeface="Microsoft Sans Serif" pitchFamily="34" charset="0"/>
                <a:ea typeface="Microsoft Sans Serif" pitchFamily="34" charset="-122"/>
                <a:cs typeface="Microsoft Sans Serif" pitchFamily="34" charset="-120"/>
              </a:rPr>
              <a:t>Iterative Improvement</a:t>
            </a:r>
            <a:endParaRPr lang="en-US" sz="1600" dirty="0"/>
          </a:p>
        </p:txBody>
      </p:sp>
      <p:sp>
        <p:nvSpPr>
          <p:cNvPr id="28" name="Text 24"/>
          <p:cNvSpPr/>
          <p:nvPr/>
        </p:nvSpPr>
        <p:spPr>
          <a:xfrm>
            <a:off x="6781800" y="4538345"/>
            <a:ext cx="4394200" cy="883047"/>
          </a:xfrm>
          <a:prstGeom prst="rect">
            <a:avLst/>
          </a:prstGeom>
          <a:noFill/>
          <a:ln/>
        </p:spPr>
        <p:txBody>
          <a:bodyPr wrap="square" lIns="91440" tIns="45720" rIns="91440" bIns="45720" rtlCol="0" anchor="t">
            <a:spAutoFit/>
          </a:bodyPr>
          <a:lstStyle/>
          <a:p>
            <a:pPr>
              <a:lnSpc>
                <a:spcPct val="130000"/>
              </a:lnSpc>
            </a:pPr>
            <a:r>
              <a:rPr lang="en-US" sz="1400" dirty="0">
                <a:solidFill>
                  <a:srgbClr val="000000"/>
                </a:solidFill>
                <a:latin typeface="Microsoft Sans Serif" pitchFamily="34" charset="0"/>
                <a:ea typeface="Microsoft Sans Serif" pitchFamily="34" charset="-122"/>
                <a:cs typeface="Microsoft Sans Serif" pitchFamily="34" charset="-120"/>
              </a:rPr>
              <a:t>Iterate on your model by tuning hyperparameters, adding new features, and experimenting with different algorithms to improve accuracy.</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flipV="1">
            <a:off x="971055" y="748041"/>
            <a:ext cx="292595" cy="291454"/>
          </a:xfrm>
          <a:prstGeom prst="plaque">
            <a:avLst>
              <a:gd name="adj" fmla="val 50000"/>
            </a:avLst>
          </a:prstGeom>
          <a:solidFill>
            <a:srgbClr val="000000"/>
          </a:solidFill>
          <a:ln/>
        </p:spPr>
      </p:sp>
      <p:sp>
        <p:nvSpPr>
          <p:cNvPr id="3" name="Text 1"/>
          <p:cNvSpPr/>
          <p:nvPr/>
        </p:nvSpPr>
        <p:spPr>
          <a:xfrm>
            <a:off x="971055" y="748041"/>
            <a:ext cx="292595" cy="291454"/>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flipV="1">
            <a:off x="594360" y="380365"/>
            <a:ext cx="438309" cy="436889"/>
          </a:xfrm>
          <a:prstGeom prst="plaque">
            <a:avLst>
              <a:gd name="adj" fmla="val 50000"/>
            </a:avLst>
          </a:prstGeom>
          <a:solidFill>
            <a:srgbClr val="000000"/>
          </a:solidFill>
          <a:ln/>
        </p:spPr>
      </p:sp>
      <p:sp>
        <p:nvSpPr>
          <p:cNvPr id="5" name="Text 3"/>
          <p:cNvSpPr/>
          <p:nvPr/>
        </p:nvSpPr>
        <p:spPr>
          <a:xfrm>
            <a:off x="594360" y="380365"/>
            <a:ext cx="438309" cy="436889"/>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8-27-20:02:57-d2nf7s98bjvh7rlj08kg.png"/>
          <p:cNvPicPr>
            <a:picLocks noChangeAspect="1"/>
          </p:cNvPicPr>
          <p:nvPr/>
        </p:nvPicPr>
        <p:blipFill>
          <a:blip r:embed="rId3"/>
          <a:stretch>
            <a:fillRect/>
          </a:stretch>
        </p:blipFill>
        <p:spPr>
          <a:xfrm>
            <a:off x="-240665" y="1523365"/>
            <a:ext cx="11819890" cy="3864610"/>
          </a:xfrm>
          <a:prstGeom prst="rect">
            <a:avLst/>
          </a:prstGeom>
        </p:spPr>
      </p:pic>
      <p:sp>
        <p:nvSpPr>
          <p:cNvPr id="7" name="Shape 4"/>
          <p:cNvSpPr/>
          <p:nvPr/>
        </p:nvSpPr>
        <p:spPr>
          <a:xfrm flipV="1">
            <a:off x="1799590" y="0"/>
            <a:ext cx="8578850" cy="3581400"/>
          </a:xfrm>
          <a:prstGeom prst="round2SameRect">
            <a:avLst>
              <a:gd name="adj1" fmla="val 50000"/>
              <a:gd name="adj2" fmla="val 0"/>
            </a:avLst>
          </a:prstGeom>
          <a:gradFill flip="none" rotWithShape="1">
            <a:gsLst>
              <a:gs pos="0">
                <a:srgbClr val="92D050"/>
              </a:gs>
              <a:gs pos="29000">
                <a:srgbClr val="92D050"/>
              </a:gs>
              <a:gs pos="100000">
                <a:srgbClr val="FFFF00"/>
              </a:gs>
            </a:gsLst>
            <a:lin ang="16200000" scaled="1"/>
          </a:gradFill>
          <a:ln/>
        </p:spPr>
      </p:sp>
      <p:sp>
        <p:nvSpPr>
          <p:cNvPr id="8" name="Text 5"/>
          <p:cNvSpPr/>
          <p:nvPr/>
        </p:nvSpPr>
        <p:spPr>
          <a:xfrm>
            <a:off x="1799590" y="0"/>
            <a:ext cx="8578850" cy="358140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6"/>
          <p:cNvSpPr/>
          <p:nvPr/>
        </p:nvSpPr>
        <p:spPr>
          <a:xfrm>
            <a:off x="-13970" y="5420360"/>
            <a:ext cx="12206605" cy="1463040"/>
          </a:xfrm>
          <a:prstGeom prst="round2SameRect">
            <a:avLst>
              <a:gd name="adj1" fmla="val 16667"/>
              <a:gd name="adj2" fmla="val 0"/>
            </a:avLst>
          </a:prstGeom>
          <a:gradFill flip="none" rotWithShape="1">
            <a:gsLst>
              <a:gs pos="0">
                <a:srgbClr val="6EAA2E"/>
              </a:gs>
              <a:gs pos="2000">
                <a:srgbClr val="6EAA2E"/>
              </a:gs>
              <a:gs pos="88000">
                <a:srgbClr val="92D050"/>
              </a:gs>
              <a:gs pos="100000">
                <a:srgbClr val="92D050"/>
              </a:gs>
            </a:gsLst>
            <a:lin ang="5400000" scaled="1"/>
          </a:gradFill>
          <a:ln/>
        </p:spPr>
      </p:sp>
      <p:sp>
        <p:nvSpPr>
          <p:cNvPr id="10" name="Text 7"/>
          <p:cNvSpPr/>
          <p:nvPr/>
        </p:nvSpPr>
        <p:spPr>
          <a:xfrm>
            <a:off x="-13970" y="5420360"/>
            <a:ext cx="12206605" cy="146304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8"/>
          <p:cNvSpPr/>
          <p:nvPr/>
        </p:nvSpPr>
        <p:spPr>
          <a:xfrm>
            <a:off x="-81280" y="715645"/>
            <a:ext cx="11406505" cy="605234"/>
          </a:xfrm>
          <a:prstGeom prst="rect">
            <a:avLst/>
          </a:prstGeom>
          <a:noFill/>
          <a:ln/>
        </p:spPr>
        <p:txBody>
          <a:bodyPr wrap="square" lIns="91440" tIns="45720" rIns="91440" bIns="45720" rtlCol="0" anchor="t">
            <a:spAutoFit/>
          </a:bodyPr>
          <a:lstStyle/>
          <a:p>
            <a:pPr algn="ctr">
              <a:lnSpc>
                <a:spcPct val="100000"/>
              </a:lnSpc>
            </a:pPr>
            <a:r>
              <a:rPr lang="en-US" sz="4000" b="1" dirty="0">
                <a:solidFill>
                  <a:srgbClr val="FFFFFF"/>
                </a:solidFill>
                <a:latin typeface="Microsoft Sans Serif" pitchFamily="34" charset="0"/>
                <a:ea typeface="Microsoft Sans Serif" pitchFamily="34" charset="-122"/>
                <a:cs typeface="Microsoft Sans Serif" pitchFamily="34" charset="-120"/>
              </a:rPr>
              <a:t>Train Evaluate and Share Results</a:t>
            </a:r>
            <a:endParaRPr lang="en-US" sz="1600" dirty="0"/>
          </a:p>
        </p:txBody>
      </p:sp>
      <p:sp>
        <p:nvSpPr>
          <p:cNvPr id="12" name="Shape 9"/>
          <p:cNvSpPr/>
          <p:nvPr/>
        </p:nvSpPr>
        <p:spPr>
          <a:xfrm>
            <a:off x="2430463" y="2067560"/>
            <a:ext cx="7331075" cy="3733800"/>
          </a:xfrm>
          <a:prstGeom prst="roundRect">
            <a:avLst>
              <a:gd name="adj" fmla="val 6531"/>
            </a:avLst>
          </a:prstGeom>
          <a:solidFill>
            <a:srgbClr val="FFFFFF">
              <a:alpha val="94118"/>
            </a:srgbClr>
          </a:solidFill>
          <a:ln w="19050">
            <a:gradFill flip="none" rotWithShape="1">
              <a:gsLst>
                <a:gs pos="0">
                  <a:srgbClr val="92D050"/>
                </a:gs>
                <a:gs pos="100000">
                  <a:srgbClr val="FFFF00"/>
                </a:gs>
              </a:gsLst>
              <a:lin ang="2700000" scaled="1"/>
            </a:gradFill>
            <a:prstDash val="solid"/>
          </a:ln>
        </p:spPr>
      </p:sp>
      <p:sp>
        <p:nvSpPr>
          <p:cNvPr id="13" name="Text 10"/>
          <p:cNvSpPr/>
          <p:nvPr/>
        </p:nvSpPr>
        <p:spPr>
          <a:xfrm>
            <a:off x="2430463" y="2067560"/>
            <a:ext cx="7331075" cy="373380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431800" y="233045"/>
            <a:ext cx="1005840" cy="1280160"/>
          </a:xfrm>
          <a:prstGeom prst="rect">
            <a:avLst/>
          </a:prstGeom>
          <a:solidFill>
            <a:srgbClr val="FFFFFF"/>
          </a:solidFill>
          <a:ln/>
        </p:spPr>
      </p:sp>
      <p:sp>
        <p:nvSpPr>
          <p:cNvPr id="15" name="Text 12"/>
          <p:cNvSpPr/>
          <p:nvPr/>
        </p:nvSpPr>
        <p:spPr>
          <a:xfrm>
            <a:off x="431800" y="233045"/>
            <a:ext cx="1005840" cy="1280160"/>
          </a:xfrm>
          <a:prstGeom prst="rect">
            <a:avLst/>
          </a:prstGeom>
          <a:noFill/>
          <a:ln/>
        </p:spPr>
        <p:txBody>
          <a:bodyPr wrap="square" lIns="45720" tIns="91440" rIns="91440" bIns="45720" rtlCol="0" anchor="ctr"/>
          <a:lstStyle/>
          <a:p>
            <a:pPr>
              <a:lnSpc>
                <a:spcPct val="100000"/>
              </a:lnSpc>
            </a:pPr>
            <a:endParaRPr lang="en-US" sz="1600" dirty="0"/>
          </a:p>
        </p:txBody>
      </p:sp>
      <p:pic>
        <p:nvPicPr>
          <p:cNvPr id="16" name="Image 1" descr="https://kimi-img.moonshot.cn/pub/slides/slides_tmpl/image/25-08-27-20:02:57-d2nf7s98bjvh7rlj08jg.png"/>
          <p:cNvPicPr>
            <a:picLocks noChangeAspect="1"/>
          </p:cNvPicPr>
          <p:nvPr/>
        </p:nvPicPr>
        <p:blipFill>
          <a:blip r:embed="rId4"/>
          <a:stretch>
            <a:fillRect/>
          </a:stretch>
        </p:blipFill>
        <p:spPr>
          <a:xfrm>
            <a:off x="8656320" y="4700905"/>
            <a:ext cx="918845" cy="935990"/>
          </a:xfrm>
          <a:prstGeom prst="rect">
            <a:avLst/>
          </a:prstGeom>
        </p:spPr>
      </p:pic>
      <p:sp>
        <p:nvSpPr>
          <p:cNvPr id="17" name="Text 13"/>
          <p:cNvSpPr/>
          <p:nvPr/>
        </p:nvSpPr>
        <p:spPr>
          <a:xfrm>
            <a:off x="2722245" y="2388235"/>
            <a:ext cx="6662420" cy="421084"/>
          </a:xfrm>
          <a:prstGeom prst="rect">
            <a:avLst/>
          </a:prstGeom>
          <a:noFill/>
          <a:ln/>
        </p:spPr>
        <p:txBody>
          <a:bodyPr wrap="square" lIns="91440" tIns="45720" rIns="91440" bIns="45720" rtlCol="0" anchor="t">
            <a:spAutoFit/>
          </a:bodyPr>
          <a:lstStyle/>
          <a:p>
            <a:pPr algn="just">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Training and Evaluation</a:t>
            </a:r>
            <a:endParaRPr lang="en-US" sz="1600" dirty="0"/>
          </a:p>
        </p:txBody>
      </p:sp>
      <p:sp>
        <p:nvSpPr>
          <p:cNvPr id="18" name="Text 14"/>
          <p:cNvSpPr/>
          <p:nvPr/>
        </p:nvSpPr>
        <p:spPr>
          <a:xfrm>
            <a:off x="2722245" y="3044825"/>
            <a:ext cx="6778208" cy="1584722"/>
          </a:xfrm>
          <a:prstGeom prst="rect">
            <a:avLst/>
          </a:prstGeom>
          <a:noFill/>
          <a:ln/>
        </p:spPr>
        <p:txBody>
          <a:bodyPr wrap="square" lIns="91440" tIns="45720" rIns="91440" bIns="45720" rtlCol="0" anchor="t">
            <a:spAutoFit/>
          </a:bodyPr>
          <a:lstStyle/>
          <a:p>
            <a:pPr>
              <a:lnSpc>
                <a:spcPct val="130000"/>
              </a:lnSpc>
            </a:pPr>
            <a:r>
              <a:rPr lang="en-US" sz="2000" dirty="0">
                <a:solidFill>
                  <a:srgbClr val="2B2F36"/>
                </a:solidFill>
                <a:latin typeface="Microsoft Sans Serif" pitchFamily="34" charset="0"/>
                <a:ea typeface="Microsoft Sans Serif" pitchFamily="34" charset="-122"/>
                <a:cs typeface="Microsoft Sans Serif" pitchFamily="34" charset="-120"/>
              </a:rPr>
              <a:t>Train your model using a suitable algorithm, evaluate its performance with metrics like accuracy and ROC curves, and document key findings. Sharing results fosters learning and collaboration.</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5-d2nf7rp8bjvh7rlj08bg.png"/>
          <p:cNvPicPr>
            <a:picLocks noChangeAspect="1"/>
          </p:cNvPicPr>
          <p:nvPr/>
        </p:nvPicPr>
        <p:blipFill>
          <a:blip r:embed="rId3"/>
          <a:srcRect l="20" r="20"/>
          <a:stretch/>
        </p:blipFill>
        <p:spPr>
          <a:xfrm>
            <a:off x="-11430" y="-24130"/>
            <a:ext cx="11249025" cy="6320790"/>
          </a:xfrm>
          <a:prstGeom prst="rect">
            <a:avLst/>
          </a:prstGeom>
        </p:spPr>
      </p:pic>
      <p:pic>
        <p:nvPicPr>
          <p:cNvPr id="3" name="Image 1" descr="https://kimi-img.moonshot.cn/pub/slides/slides_tmpl/image/25-08-27-20:02:54-d2nf7rh8bjvh7rlj08a0.png"/>
          <p:cNvPicPr>
            <a:picLocks noChangeAspect="1"/>
          </p:cNvPicPr>
          <p:nvPr/>
        </p:nvPicPr>
        <p:blipFill>
          <a:blip r:embed="rId4"/>
          <a:stretch>
            <a:fillRect/>
          </a:stretch>
        </p:blipFill>
        <p:spPr>
          <a:xfrm>
            <a:off x="1261745" y="4329430"/>
            <a:ext cx="1511935" cy="1353185"/>
          </a:xfrm>
          <a:prstGeom prst="rect">
            <a:avLst/>
          </a:prstGeom>
        </p:spPr>
      </p:pic>
      <p:sp>
        <p:nvSpPr>
          <p:cNvPr id="4" name="Text 0"/>
          <p:cNvSpPr/>
          <p:nvPr/>
        </p:nvSpPr>
        <p:spPr>
          <a:xfrm>
            <a:off x="3048000" y="1278890"/>
            <a:ext cx="6096000" cy="1210667"/>
          </a:xfrm>
          <a:prstGeom prst="rect">
            <a:avLst/>
          </a:prstGeom>
          <a:noFill/>
          <a:ln/>
        </p:spPr>
        <p:txBody>
          <a:bodyPr wrap="square" lIns="91440" tIns="45720" rIns="91440" bIns="45720" rtlCol="0" anchor="t">
            <a:spAutoFit/>
          </a:bodyPr>
          <a:lstStyle/>
          <a:p>
            <a:pPr algn="ctr">
              <a:lnSpc>
                <a:spcPct val="100000"/>
              </a:lnSpc>
            </a:pPr>
            <a:r>
              <a:rPr lang="en-US" sz="8000" b="1" dirty="0">
                <a:solidFill>
                  <a:srgbClr val="000000"/>
                </a:solidFill>
                <a:latin typeface="Microsoft Sans Serif" pitchFamily="34" charset="0"/>
                <a:ea typeface="Microsoft Sans Serif" pitchFamily="34" charset="-122"/>
                <a:cs typeface="Microsoft Sans Serif" pitchFamily="34" charset="-120"/>
              </a:rPr>
              <a:t>06</a:t>
            </a:r>
            <a:endParaRPr lang="en-US" sz="1600" dirty="0"/>
          </a:p>
        </p:txBody>
      </p:sp>
      <p:sp>
        <p:nvSpPr>
          <p:cNvPr id="5" name="Text 1"/>
          <p:cNvSpPr/>
          <p:nvPr/>
        </p:nvSpPr>
        <p:spPr>
          <a:xfrm>
            <a:off x="664210" y="2883535"/>
            <a:ext cx="10737850" cy="912217"/>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404040"/>
                </a:solidFill>
                <a:latin typeface="Microsoft Sans Serif" pitchFamily="34" charset="0"/>
                <a:ea typeface="Microsoft Sans Serif" pitchFamily="34" charset="-122"/>
                <a:cs typeface="Microsoft Sans Serif" pitchFamily="34" charset="-120"/>
              </a:rPr>
              <a:t>Wrap-Up</a:t>
            </a:r>
            <a:endParaRPr lang="en-US" sz="1600" dirty="0"/>
          </a:p>
        </p:txBody>
      </p:sp>
      <p:sp>
        <p:nvSpPr>
          <p:cNvPr id="6" name="Shape 2"/>
          <p:cNvSpPr/>
          <p:nvPr/>
        </p:nvSpPr>
        <p:spPr>
          <a:xfrm>
            <a:off x="1610995" y="509112"/>
            <a:ext cx="8640000" cy="0"/>
          </a:xfrm>
          <a:prstGeom prst="line">
            <a:avLst/>
          </a:prstGeom>
          <a:noFill/>
          <a:ln w="15875">
            <a:solidFill>
              <a:srgbClr val="000000"/>
            </a:solidFill>
            <a:prstDash val="sysDot"/>
            <a:headEnd type="none"/>
            <a:tailEnd type="none"/>
          </a:ln>
        </p:spPr>
      </p:sp>
      <p:sp>
        <p:nvSpPr>
          <p:cNvPr id="7" name="Shape 3"/>
          <p:cNvSpPr/>
          <p:nvPr/>
        </p:nvSpPr>
        <p:spPr>
          <a:xfrm>
            <a:off x="2355215" y="6550025"/>
            <a:ext cx="8894445" cy="0"/>
          </a:xfrm>
          <a:prstGeom prst="line">
            <a:avLst/>
          </a:prstGeom>
          <a:noFill/>
          <a:ln w="15875">
            <a:solidFill>
              <a:srgbClr val="000000"/>
            </a:solidFill>
            <a:prstDash val="sysDot"/>
            <a:headEnd type="none"/>
            <a:tailEnd type="none"/>
          </a:ln>
        </p:spPr>
      </p:sp>
      <p:sp>
        <p:nvSpPr>
          <p:cNvPr id="8" name="Shape 4"/>
          <p:cNvSpPr/>
          <p:nvPr/>
        </p:nvSpPr>
        <p:spPr>
          <a:xfrm>
            <a:off x="11774805" y="1237615"/>
            <a:ext cx="0" cy="4104005"/>
          </a:xfrm>
          <a:prstGeom prst="line">
            <a:avLst/>
          </a:prstGeom>
          <a:noFill/>
          <a:ln w="19050">
            <a:solidFill>
              <a:srgbClr val="000000"/>
            </a:solidFill>
            <a:prstDash val="solid"/>
            <a:headEnd type="none"/>
            <a:tailEnd type="none"/>
          </a:ln>
        </p:spPr>
      </p:sp>
      <p:sp>
        <p:nvSpPr>
          <p:cNvPr id="9" name="Shape 5"/>
          <p:cNvSpPr/>
          <p:nvPr/>
        </p:nvSpPr>
        <p:spPr>
          <a:xfrm flipV="1">
            <a:off x="586105" y="2072640"/>
            <a:ext cx="0" cy="4104005"/>
          </a:xfrm>
          <a:prstGeom prst="line">
            <a:avLst/>
          </a:prstGeom>
          <a:noFill/>
          <a:ln w="19050">
            <a:solidFill>
              <a:srgbClr val="000000"/>
            </a:solidFill>
            <a:prstDash val="solid"/>
            <a:headEnd type="none"/>
            <a:tailEnd type="none"/>
          </a:ln>
        </p:spPr>
      </p:sp>
      <p:pic>
        <p:nvPicPr>
          <p:cNvPr id="10"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1"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2"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3"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4"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5"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6" name="Image 8" descr="https://kimi-img.moonshot.cn/pub/slides/slides_tmpl/image/25-08-27-20:02:54-d2nf7rh8bjvh7rlj08b0.png"/>
          <p:cNvPicPr>
            <a:picLocks noChangeAspect="1"/>
          </p:cNvPicPr>
          <p:nvPr/>
        </p:nvPicPr>
        <p:blipFill>
          <a:blip r:embed="rId9"/>
          <a:stretch>
            <a:fillRect/>
          </a:stretch>
        </p:blipFill>
        <p:spPr>
          <a:xfrm>
            <a:off x="5148580" y="1563370"/>
            <a:ext cx="2450465" cy="121920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6985" y="1494790"/>
            <a:ext cx="12206605" cy="1126490"/>
          </a:xfrm>
          <a:prstGeom prst="roundRect">
            <a:avLst>
              <a:gd name="adj" fmla="val 0"/>
            </a:avLst>
          </a:prstGeom>
          <a:gradFill flip="none" rotWithShape="1">
            <a:gsLst>
              <a:gs pos="0">
                <a:srgbClr val="6EAA2E"/>
              </a:gs>
              <a:gs pos="53000">
                <a:srgbClr val="92D050"/>
              </a:gs>
              <a:gs pos="91000">
                <a:srgbClr val="C9E828"/>
              </a:gs>
              <a:gs pos="100000">
                <a:srgbClr val="C9E828"/>
              </a:gs>
            </a:gsLst>
            <a:lin ang="13500000" scaled="1"/>
          </a:gradFill>
          <a:ln/>
        </p:spPr>
      </p:sp>
      <p:sp>
        <p:nvSpPr>
          <p:cNvPr id="5" name="Text 1"/>
          <p:cNvSpPr/>
          <p:nvPr/>
        </p:nvSpPr>
        <p:spPr>
          <a:xfrm>
            <a:off x="-6985" y="1494790"/>
            <a:ext cx="12206605" cy="112649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1092200" y="1925320"/>
            <a:ext cx="4359910" cy="4023360"/>
          </a:xfrm>
          <a:prstGeom prst="roundRect">
            <a:avLst>
              <a:gd name="adj" fmla="val 3066"/>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7" name="Text 3"/>
          <p:cNvSpPr/>
          <p:nvPr/>
        </p:nvSpPr>
        <p:spPr>
          <a:xfrm>
            <a:off x="1092200" y="1925320"/>
            <a:ext cx="4359910" cy="402336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307465" y="3101340"/>
            <a:ext cx="3893185" cy="0"/>
          </a:xfrm>
          <a:prstGeom prst="line">
            <a:avLst/>
          </a:prstGeom>
          <a:noFill/>
          <a:ln w="19050">
            <a:solidFill>
              <a:srgbClr val="49711E"/>
            </a:solidFill>
            <a:prstDash val="solid"/>
            <a:headEnd type="none"/>
            <a:tailEnd type="none"/>
          </a:ln>
        </p:spPr>
      </p:sp>
      <p:sp>
        <p:nvSpPr>
          <p:cNvPr id="9" name="Shape 5"/>
          <p:cNvSpPr/>
          <p:nvPr/>
        </p:nvSpPr>
        <p:spPr>
          <a:xfrm>
            <a:off x="5913120" y="1925320"/>
            <a:ext cx="4359910" cy="4023360"/>
          </a:xfrm>
          <a:prstGeom prst="roundRect">
            <a:avLst>
              <a:gd name="adj" fmla="val 3066"/>
            </a:avLst>
          </a:prstGeom>
          <a:solidFill>
            <a:srgbClr val="FFFFFF"/>
          </a:solidFill>
          <a:ln w="19050">
            <a:gradFill flip="none" rotWithShape="1">
              <a:gsLst>
                <a:gs pos="0">
                  <a:srgbClr val="6EAA2E"/>
                </a:gs>
                <a:gs pos="30000">
                  <a:srgbClr val="6EAA2E"/>
                </a:gs>
                <a:gs pos="100000">
                  <a:srgbClr val="92D050"/>
                </a:gs>
              </a:gsLst>
              <a:lin ang="10800000" scaled="1"/>
            </a:gradFill>
            <a:prstDash val="solid"/>
          </a:ln>
        </p:spPr>
      </p:sp>
      <p:sp>
        <p:nvSpPr>
          <p:cNvPr id="10" name="Text 6"/>
          <p:cNvSpPr/>
          <p:nvPr/>
        </p:nvSpPr>
        <p:spPr>
          <a:xfrm>
            <a:off x="5913120" y="1925320"/>
            <a:ext cx="4359910" cy="402336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7"/>
          <p:cNvSpPr/>
          <p:nvPr/>
        </p:nvSpPr>
        <p:spPr>
          <a:xfrm>
            <a:off x="6128385" y="3101340"/>
            <a:ext cx="3893185" cy="0"/>
          </a:xfrm>
          <a:prstGeom prst="line">
            <a:avLst/>
          </a:prstGeom>
          <a:noFill/>
          <a:ln w="19050">
            <a:solidFill>
              <a:srgbClr val="49711E"/>
            </a:solidFill>
            <a:prstDash val="solid"/>
            <a:headEnd type="none"/>
            <a:tailEnd type="none"/>
          </a:ln>
        </p:spPr>
      </p:sp>
      <p:sp>
        <p:nvSpPr>
          <p:cNvPr id="12" name="Text 8"/>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Key Takeaways and Skill Pathways</a:t>
            </a:r>
            <a:endParaRPr lang="en-US" sz="1600" dirty="0"/>
          </a:p>
        </p:txBody>
      </p:sp>
      <p:sp>
        <p:nvSpPr>
          <p:cNvPr id="13" name="Text 9"/>
          <p:cNvSpPr/>
          <p:nvPr/>
        </p:nvSpPr>
        <p:spPr>
          <a:xfrm>
            <a:off x="1326515" y="2209800"/>
            <a:ext cx="3891915" cy="761206"/>
          </a:xfrm>
          <a:prstGeom prst="rect">
            <a:avLst/>
          </a:prstGeom>
          <a:noFill/>
          <a:ln/>
        </p:spPr>
        <p:txBody>
          <a:bodyPr wrap="square" lIns="91440" tIns="45720" rIns="91440" bIns="45720" rtlCol="0" anchor="t">
            <a:spAutoFit/>
          </a:bodyPr>
          <a:lstStyle/>
          <a:p>
            <a:pPr>
              <a:lnSpc>
                <a:spcPct val="100000"/>
              </a:lnSpc>
            </a:pPr>
            <a:r>
              <a:rPr lang="en-US" sz="2400" b="1" dirty="0">
                <a:solidFill>
                  <a:srgbClr val="49711E"/>
                </a:solidFill>
                <a:latin typeface="Microsoft Sans Serif" pitchFamily="34" charset="0"/>
                <a:ea typeface="Microsoft Sans Serif" pitchFamily="34" charset="-122"/>
                <a:cs typeface="Microsoft Sans Serif" pitchFamily="34" charset="-120"/>
              </a:rPr>
              <a:t>Recap of Machine Learning</a:t>
            </a:r>
            <a:endParaRPr lang="en-US" sz="1600" dirty="0"/>
          </a:p>
        </p:txBody>
      </p:sp>
      <p:sp>
        <p:nvSpPr>
          <p:cNvPr id="14" name="Text 10"/>
          <p:cNvSpPr/>
          <p:nvPr/>
        </p:nvSpPr>
        <p:spPr>
          <a:xfrm>
            <a:off x="1307465" y="3155315"/>
            <a:ext cx="3893185" cy="1706563"/>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Machine Learning transforms data into predictions through supervised, unsupervised, or reinforcement learning. It drives innovation in finance, health, vision, and NLP.</a:t>
            </a:r>
            <a:endParaRPr lang="en-US" sz="1600" dirty="0"/>
          </a:p>
        </p:txBody>
      </p:sp>
      <p:sp>
        <p:nvSpPr>
          <p:cNvPr id="15" name="Text 11"/>
          <p:cNvSpPr/>
          <p:nvPr/>
        </p:nvSpPr>
        <p:spPr>
          <a:xfrm>
            <a:off x="6147435" y="2209800"/>
            <a:ext cx="3891915" cy="761206"/>
          </a:xfrm>
          <a:prstGeom prst="rect">
            <a:avLst/>
          </a:prstGeom>
          <a:noFill/>
          <a:ln/>
        </p:spPr>
        <p:txBody>
          <a:bodyPr wrap="square" lIns="91440" tIns="45720" rIns="91440" bIns="45720" rtlCol="0" anchor="t">
            <a:spAutoFit/>
          </a:bodyPr>
          <a:lstStyle/>
          <a:p>
            <a:pPr>
              <a:lnSpc>
                <a:spcPct val="100000"/>
              </a:lnSpc>
            </a:pPr>
            <a:r>
              <a:rPr lang="en-US" sz="2400" b="1" dirty="0">
                <a:solidFill>
                  <a:srgbClr val="49711E"/>
                </a:solidFill>
                <a:latin typeface="Microsoft Sans Serif" pitchFamily="34" charset="0"/>
                <a:ea typeface="Microsoft Sans Serif" pitchFamily="34" charset="-122"/>
                <a:cs typeface="Microsoft Sans Serif" pitchFamily="34" charset="-120"/>
              </a:rPr>
              <a:t>Next Steps and Skill Development</a:t>
            </a:r>
            <a:endParaRPr lang="en-US" sz="1600" dirty="0"/>
          </a:p>
        </p:txBody>
      </p:sp>
      <p:sp>
        <p:nvSpPr>
          <p:cNvPr id="16" name="Text 12"/>
          <p:cNvSpPr/>
          <p:nvPr/>
        </p:nvSpPr>
        <p:spPr>
          <a:xfrm>
            <a:off x="6128385" y="3155315"/>
            <a:ext cx="3893185" cy="1706563"/>
          </a:xfrm>
          <a:prstGeom prst="rect">
            <a:avLst/>
          </a:prstGeom>
          <a:noFill/>
          <a:ln/>
        </p:spPr>
        <p:txBody>
          <a:bodyPr wrap="square" lIns="91440" tIns="45720" rIns="91440" bIns="45720" rtlCol="0" anchor="t">
            <a:spAutoFit/>
          </a:bodyPr>
          <a:lstStyle/>
          <a:p>
            <a:pPr>
              <a:lnSpc>
                <a:spcPct val="140000"/>
              </a:lnSpc>
            </a:pPr>
            <a:r>
              <a:rPr lang="en-US" sz="1600" dirty="0">
                <a:solidFill>
                  <a:srgbClr val="000000"/>
                </a:solidFill>
                <a:latin typeface="Microsoft Sans Serif" pitchFamily="34" charset="0"/>
                <a:ea typeface="Microsoft Sans Serif" pitchFamily="34" charset="-122"/>
                <a:cs typeface="Microsoft Sans Serif" pitchFamily="34" charset="-120"/>
              </a:rPr>
              <a:t>Explore Kaggle competitions, TensorFlow specializations, and cloud certifications to deepen your ML skills. Always prioritize fairness and transparency in your projects.</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0.png"/>
          <p:cNvPicPr>
            <a:picLocks noChangeAspect="1"/>
          </p:cNvPicPr>
          <p:nvPr/>
        </p:nvPicPr>
        <p:blipFill>
          <a:blip r:embed="rId3"/>
          <a:srcRect l="21" r="21"/>
          <a:stretch/>
        </p:blipFill>
        <p:spPr>
          <a:xfrm>
            <a:off x="0" y="-19050"/>
            <a:ext cx="12235815" cy="6877050"/>
          </a:xfrm>
          <a:prstGeom prst="rect">
            <a:avLst/>
          </a:prstGeom>
        </p:spPr>
      </p:pic>
      <p:pic>
        <p:nvPicPr>
          <p:cNvPr id="3" name="Image 1" descr="https://kimi-img.moonshot.cn/pub/slides/slides_tmpl/image/25-08-27-20:02:57-d2nf7s98bjvh7rlj08jg.png"/>
          <p:cNvPicPr>
            <a:picLocks noChangeAspect="1"/>
          </p:cNvPicPr>
          <p:nvPr/>
        </p:nvPicPr>
        <p:blipFill>
          <a:blip r:embed="rId4"/>
          <a:stretch>
            <a:fillRect/>
          </a:stretch>
        </p:blipFill>
        <p:spPr>
          <a:xfrm>
            <a:off x="594360" y="369570"/>
            <a:ext cx="670560" cy="682625"/>
          </a:xfrm>
          <a:prstGeom prst="rect">
            <a:avLst/>
          </a:prstGeom>
        </p:spPr>
      </p:pic>
      <p:sp>
        <p:nvSpPr>
          <p:cNvPr id="4" name="Shape 0"/>
          <p:cNvSpPr/>
          <p:nvPr/>
        </p:nvSpPr>
        <p:spPr>
          <a:xfrm>
            <a:off x="1016000" y="1473200"/>
            <a:ext cx="334361" cy="335280"/>
          </a:xfrm>
          <a:prstGeom prst="chevron">
            <a:avLst>
              <a:gd name="adj" fmla="val 50000"/>
            </a:avLst>
          </a:prstGeom>
          <a:gradFill flip="none" rotWithShape="1">
            <a:gsLst>
              <a:gs pos="0">
                <a:srgbClr val="92D050"/>
              </a:gs>
              <a:gs pos="29000">
                <a:srgbClr val="92D050"/>
              </a:gs>
              <a:gs pos="100000">
                <a:srgbClr val="FFFF00"/>
              </a:gs>
            </a:gsLst>
            <a:lin ang="13500000" scaled="1"/>
          </a:gradFill>
          <a:ln/>
        </p:spPr>
      </p:sp>
      <p:sp>
        <p:nvSpPr>
          <p:cNvPr id="5" name="Text 1"/>
          <p:cNvSpPr/>
          <p:nvPr/>
        </p:nvSpPr>
        <p:spPr>
          <a:xfrm>
            <a:off x="1016000" y="1473200"/>
            <a:ext cx="334361" cy="33528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2"/>
          <p:cNvSpPr/>
          <p:nvPr/>
        </p:nvSpPr>
        <p:spPr>
          <a:xfrm>
            <a:off x="1342674" y="1473200"/>
            <a:ext cx="334361" cy="335280"/>
          </a:xfrm>
          <a:prstGeom prst="chevron">
            <a:avLst>
              <a:gd name="adj" fmla="val 50000"/>
            </a:avLst>
          </a:prstGeom>
          <a:gradFill flip="none" rotWithShape="1">
            <a:gsLst>
              <a:gs pos="0">
                <a:srgbClr val="92D050"/>
              </a:gs>
              <a:gs pos="29000">
                <a:srgbClr val="92D050"/>
              </a:gs>
              <a:gs pos="100000">
                <a:srgbClr val="FFFF00"/>
              </a:gs>
            </a:gsLst>
            <a:lin ang="13500000" scaled="1"/>
          </a:gradFill>
          <a:ln/>
        </p:spPr>
      </p:sp>
      <p:sp>
        <p:nvSpPr>
          <p:cNvPr id="7" name="Text 3"/>
          <p:cNvSpPr/>
          <p:nvPr/>
        </p:nvSpPr>
        <p:spPr>
          <a:xfrm>
            <a:off x="1342674" y="1473200"/>
            <a:ext cx="334361" cy="33528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038860" y="3398520"/>
            <a:ext cx="4571365" cy="2712720"/>
          </a:xfrm>
          <a:prstGeom prst="roundRect">
            <a:avLst>
              <a:gd name="adj" fmla="val 7677"/>
            </a:avLst>
          </a:prstGeom>
          <a:solidFill>
            <a:srgbClr val="FFFFFF"/>
          </a:solidFill>
          <a:ln w="19050">
            <a:gradFill flip="none" rotWithShape="1">
              <a:gsLst>
                <a:gs pos="0">
                  <a:srgbClr val="BEE396"/>
                </a:gs>
                <a:gs pos="100000">
                  <a:srgbClr val="92D050"/>
                </a:gs>
              </a:gsLst>
              <a:lin ang="2700000" scaled="1"/>
            </a:gradFill>
            <a:prstDash val="solid"/>
          </a:ln>
        </p:spPr>
      </p:sp>
      <p:sp>
        <p:nvSpPr>
          <p:cNvPr id="9" name="Text 5"/>
          <p:cNvSpPr/>
          <p:nvPr/>
        </p:nvSpPr>
        <p:spPr>
          <a:xfrm>
            <a:off x="1038860" y="3398520"/>
            <a:ext cx="4571365" cy="271272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1031240" y="3383280"/>
            <a:ext cx="4586605" cy="640080"/>
          </a:xfrm>
          <a:prstGeom prst="round2SameRect">
            <a:avLst>
              <a:gd name="adj1" fmla="val 16667"/>
              <a:gd name="adj2" fmla="val 0"/>
            </a:avLst>
          </a:prstGeom>
          <a:gradFill flip="none" rotWithShape="1">
            <a:gsLst>
              <a:gs pos="0">
                <a:srgbClr val="6EAA2E"/>
              </a:gs>
              <a:gs pos="75000">
                <a:srgbClr val="92D050"/>
              </a:gs>
              <a:gs pos="100000">
                <a:srgbClr val="C9E828"/>
              </a:gs>
            </a:gsLst>
            <a:lin ang="13500000" scaled="1"/>
          </a:gradFill>
          <a:ln/>
        </p:spPr>
      </p:sp>
      <p:sp>
        <p:nvSpPr>
          <p:cNvPr id="11" name="Text 7"/>
          <p:cNvSpPr/>
          <p:nvPr/>
        </p:nvSpPr>
        <p:spPr>
          <a:xfrm>
            <a:off x="1031240" y="3383280"/>
            <a:ext cx="4586605" cy="64008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6134100" y="3398520"/>
            <a:ext cx="4571365" cy="2712720"/>
          </a:xfrm>
          <a:prstGeom prst="roundRect">
            <a:avLst>
              <a:gd name="adj" fmla="val 7677"/>
            </a:avLst>
          </a:prstGeom>
          <a:solidFill>
            <a:srgbClr val="FFFFFF"/>
          </a:solidFill>
          <a:ln w="19050">
            <a:gradFill flip="none" rotWithShape="1">
              <a:gsLst>
                <a:gs pos="0">
                  <a:srgbClr val="BEE396"/>
                </a:gs>
                <a:gs pos="100000">
                  <a:srgbClr val="92D050"/>
                </a:gs>
              </a:gsLst>
              <a:lin ang="2700000" scaled="1"/>
            </a:gradFill>
            <a:prstDash val="solid"/>
          </a:ln>
        </p:spPr>
      </p:sp>
      <p:sp>
        <p:nvSpPr>
          <p:cNvPr id="13" name="Text 9"/>
          <p:cNvSpPr/>
          <p:nvPr/>
        </p:nvSpPr>
        <p:spPr>
          <a:xfrm>
            <a:off x="6134100" y="3398520"/>
            <a:ext cx="4571365" cy="271272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a:off x="6126480" y="3383280"/>
            <a:ext cx="4586605" cy="640080"/>
          </a:xfrm>
          <a:prstGeom prst="round2SameRect">
            <a:avLst>
              <a:gd name="adj1" fmla="val 16667"/>
              <a:gd name="adj2" fmla="val 0"/>
            </a:avLst>
          </a:prstGeom>
          <a:gradFill flip="none" rotWithShape="1">
            <a:gsLst>
              <a:gs pos="0">
                <a:srgbClr val="6EAA2E"/>
              </a:gs>
              <a:gs pos="75000">
                <a:srgbClr val="92D050"/>
              </a:gs>
              <a:gs pos="100000">
                <a:srgbClr val="C9E828"/>
              </a:gs>
            </a:gsLst>
            <a:lin ang="13500000" scaled="1"/>
          </a:gradFill>
          <a:ln/>
        </p:spPr>
      </p:sp>
      <p:sp>
        <p:nvSpPr>
          <p:cNvPr id="15" name="Text 11"/>
          <p:cNvSpPr/>
          <p:nvPr/>
        </p:nvSpPr>
        <p:spPr>
          <a:xfrm>
            <a:off x="6126480" y="3383280"/>
            <a:ext cx="4586605" cy="64008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Text 12"/>
          <p:cNvSpPr/>
          <p:nvPr/>
        </p:nvSpPr>
        <p:spPr>
          <a:xfrm>
            <a:off x="1506220" y="405765"/>
            <a:ext cx="9799955" cy="421084"/>
          </a:xfrm>
          <a:prstGeom prst="rect">
            <a:avLst/>
          </a:prstGeom>
          <a:noFill/>
          <a:ln/>
        </p:spPr>
        <p:txBody>
          <a:bodyPr wrap="square" lIns="91440" tIns="45720" rIns="91440" bIns="45720" rtlCol="0" anchor="t">
            <a:spAutoFit/>
          </a:bodyPr>
          <a:lstStyle/>
          <a:p>
            <a:pPr>
              <a:lnSpc>
                <a:spcPct val="100000"/>
              </a:lnSpc>
            </a:pPr>
            <a:r>
              <a:rPr lang="en-US" sz="2800" b="1" dirty="0">
                <a:solidFill>
                  <a:srgbClr val="000000"/>
                </a:solidFill>
                <a:latin typeface="Microsoft Sans Serif" pitchFamily="34" charset="0"/>
                <a:ea typeface="Microsoft Sans Serif" pitchFamily="34" charset="-122"/>
                <a:cs typeface="Microsoft Sans Serif" pitchFamily="34" charset="-120"/>
              </a:rPr>
              <a:t>Your Next Model Starts Now</a:t>
            </a:r>
            <a:endParaRPr lang="en-US" sz="1600" dirty="0"/>
          </a:p>
        </p:txBody>
      </p:sp>
      <p:sp>
        <p:nvSpPr>
          <p:cNvPr id="17" name="Text 13"/>
          <p:cNvSpPr/>
          <p:nvPr/>
        </p:nvSpPr>
        <p:spPr>
          <a:xfrm>
            <a:off x="1762125" y="1441133"/>
            <a:ext cx="4644000" cy="361553"/>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000000"/>
                </a:solidFill>
                <a:latin typeface="Microsoft Sans Serif" pitchFamily="34" charset="0"/>
                <a:ea typeface="Microsoft Sans Serif" pitchFamily="34" charset="-122"/>
                <a:cs typeface="Microsoft Sans Serif" pitchFamily="34" charset="-120"/>
              </a:rPr>
              <a:t>Immediate Application</a:t>
            </a:r>
            <a:endParaRPr lang="en-US" sz="1600" dirty="0"/>
          </a:p>
        </p:txBody>
      </p:sp>
      <p:sp>
        <p:nvSpPr>
          <p:cNvPr id="18" name="Text 14"/>
          <p:cNvSpPr/>
          <p:nvPr/>
        </p:nvSpPr>
        <p:spPr>
          <a:xfrm>
            <a:off x="1016000" y="1960880"/>
            <a:ext cx="9794240" cy="822722"/>
          </a:xfrm>
          <a:prstGeom prst="rect">
            <a:avLst/>
          </a:prstGeom>
          <a:noFill/>
          <a:ln/>
        </p:spPr>
        <p:txBody>
          <a:bodyPr wrap="square" lIns="91440" tIns="45720" rIns="91440" bIns="45720" rtlCol="0" anchor="t">
            <a:spAutoFit/>
          </a:bodyPr>
          <a:lstStyle/>
          <a:p>
            <a:pPr>
              <a:lnSpc>
                <a:spcPct val="150000"/>
              </a:lnSpc>
            </a:pPr>
            <a:r>
              <a:rPr lang="en-US" sz="1800" dirty="0">
                <a:solidFill>
                  <a:srgbClr val="000000"/>
                </a:solidFill>
                <a:latin typeface="Microsoft Sans Serif" pitchFamily="34" charset="0"/>
                <a:ea typeface="Microsoft Sans Serif" pitchFamily="34" charset="-122"/>
                <a:cs typeface="Microsoft Sans Serif" pitchFamily="34" charset="-120"/>
              </a:rPr>
              <a:t>Start your next ML project by picking a public dataset, framing a question, and training a baseline model. Iterate and improve continuously.</a:t>
            </a:r>
            <a:endParaRPr lang="en-US" sz="1600" dirty="0"/>
          </a:p>
        </p:txBody>
      </p:sp>
      <p:sp>
        <p:nvSpPr>
          <p:cNvPr id="19" name="Text 15"/>
          <p:cNvSpPr/>
          <p:nvPr/>
        </p:nvSpPr>
        <p:spPr>
          <a:xfrm>
            <a:off x="1223645" y="3503930"/>
            <a:ext cx="420243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crosoft Sans Serif" pitchFamily="34" charset="0"/>
                <a:ea typeface="Microsoft Sans Serif" pitchFamily="34" charset="-122"/>
                <a:cs typeface="Microsoft Sans Serif" pitchFamily="34" charset="-120"/>
              </a:rPr>
              <a:t>Resources and Tools</a:t>
            </a:r>
            <a:endParaRPr lang="en-US" sz="1600" dirty="0"/>
          </a:p>
        </p:txBody>
      </p:sp>
      <p:sp>
        <p:nvSpPr>
          <p:cNvPr id="20" name="Text 16"/>
          <p:cNvSpPr/>
          <p:nvPr/>
        </p:nvSpPr>
        <p:spPr>
          <a:xfrm>
            <a:off x="1231900" y="4069080"/>
            <a:ext cx="4185920" cy="1584722"/>
          </a:xfrm>
          <a:prstGeom prst="rect">
            <a:avLst/>
          </a:prstGeom>
          <a:noFill/>
          <a:ln/>
        </p:spPr>
        <p:txBody>
          <a:bodyPr wrap="square" lIns="91440" tIns="45720" rIns="91440" bIns="45720" rtlCol="0" anchor="t">
            <a:spAutoFit/>
          </a:bodyPr>
          <a:lstStyle/>
          <a:p>
            <a:pPr>
              <a:lnSpc>
                <a:spcPct val="130000"/>
              </a:lnSpc>
            </a:pPr>
            <a:r>
              <a:rPr lang="en-US" sz="1600" dirty="0">
                <a:solidFill>
                  <a:srgbClr val="000000"/>
                </a:solidFill>
                <a:latin typeface="Microsoft Sans Serif" pitchFamily="34" charset="0"/>
                <a:ea typeface="Microsoft Sans Serif" pitchFamily="34" charset="-122"/>
                <a:cs typeface="Microsoft Sans Serif" pitchFamily="34" charset="-120"/>
              </a:rPr>
              <a:t>Utilize Python libraries, free GPU notebooks, and ethics checklists to streamline your workflow. Share your findings and seek feedback from the community.</a:t>
            </a:r>
            <a:endParaRPr lang="en-US" sz="1600" dirty="0"/>
          </a:p>
        </p:txBody>
      </p:sp>
      <p:sp>
        <p:nvSpPr>
          <p:cNvPr id="21" name="Text 17"/>
          <p:cNvSpPr/>
          <p:nvPr/>
        </p:nvSpPr>
        <p:spPr>
          <a:xfrm>
            <a:off x="6318885" y="3503930"/>
            <a:ext cx="4202430" cy="306784"/>
          </a:xfrm>
          <a:prstGeom prst="rect">
            <a:avLst/>
          </a:prstGeom>
          <a:noFill/>
          <a:ln/>
        </p:spPr>
        <p:txBody>
          <a:bodyPr wrap="square" lIns="91440" tIns="45720" rIns="91440" bIns="45720" rtlCol="0" anchor="t">
            <a:spAutoFit/>
          </a:bodyPr>
          <a:lstStyle/>
          <a:p>
            <a:pPr>
              <a:lnSpc>
                <a:spcPct val="100000"/>
              </a:lnSpc>
            </a:pPr>
            <a:r>
              <a:rPr lang="en-US" sz="2000" b="1" dirty="0">
                <a:solidFill>
                  <a:srgbClr val="FFFFFF"/>
                </a:solidFill>
                <a:latin typeface="Microsoft Sans Serif" pitchFamily="34" charset="0"/>
                <a:ea typeface="Microsoft Sans Serif" pitchFamily="34" charset="-122"/>
                <a:cs typeface="Microsoft Sans Serif" pitchFamily="34" charset="-120"/>
              </a:rPr>
              <a:t>Keep Experimenting</a:t>
            </a:r>
            <a:endParaRPr lang="en-US" sz="1600" dirty="0"/>
          </a:p>
        </p:txBody>
      </p:sp>
      <p:sp>
        <p:nvSpPr>
          <p:cNvPr id="22" name="Text 18"/>
          <p:cNvSpPr/>
          <p:nvPr/>
        </p:nvSpPr>
        <p:spPr>
          <a:xfrm>
            <a:off x="6327140" y="4069080"/>
            <a:ext cx="4185920" cy="1267817"/>
          </a:xfrm>
          <a:prstGeom prst="rect">
            <a:avLst/>
          </a:prstGeom>
          <a:noFill/>
          <a:ln/>
        </p:spPr>
        <p:txBody>
          <a:bodyPr wrap="square" lIns="91440" tIns="45720" rIns="91440" bIns="45720" rtlCol="0" anchor="t">
            <a:spAutoFit/>
          </a:bodyPr>
          <a:lstStyle/>
          <a:p>
            <a:pPr>
              <a:lnSpc>
                <a:spcPct val="130000"/>
              </a:lnSpc>
            </a:pPr>
            <a:r>
              <a:rPr lang="en-US" sz="1600" dirty="0">
                <a:solidFill>
                  <a:srgbClr val="000000"/>
                </a:solidFill>
                <a:latin typeface="Microsoft Sans Serif" pitchFamily="34" charset="0"/>
                <a:ea typeface="Microsoft Sans Serif" pitchFamily="34" charset="-122"/>
                <a:cs typeface="Microsoft Sans Serif" pitchFamily="34" charset="-120"/>
              </a:rPr>
              <a:t>Stay curious and keep experimenting. The best ML engineers are those who continuously learn and adapt, turning ideas into tangible prototypes.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58-d2nf7sh8bjvh7rlj08lg.png"/>
          <p:cNvPicPr>
            <a:picLocks noChangeAspect="1"/>
          </p:cNvPicPr>
          <p:nvPr/>
        </p:nvPicPr>
        <p:blipFill>
          <a:blip r:embed="rId3"/>
          <a:srcRect l="26" r="26"/>
          <a:stretch/>
        </p:blipFill>
        <p:spPr>
          <a:xfrm>
            <a:off x="-24130" y="8255"/>
            <a:ext cx="12234545" cy="6849745"/>
          </a:xfrm>
          <a:prstGeom prst="rect">
            <a:avLst/>
          </a:prstGeom>
        </p:spPr>
      </p:pic>
      <p:sp>
        <p:nvSpPr>
          <p:cNvPr id="3" name="Text 0"/>
          <p:cNvSpPr/>
          <p:nvPr/>
        </p:nvSpPr>
        <p:spPr>
          <a:xfrm>
            <a:off x="1709420" y="2432050"/>
            <a:ext cx="8542020" cy="1414780"/>
          </a:xfrm>
          <a:prstGeom prst="rect">
            <a:avLst/>
          </a:prstGeom>
          <a:noFill/>
          <a:ln/>
        </p:spPr>
        <p:txBody>
          <a:bodyPr wrap="square" lIns="91440" tIns="45720" rIns="91440" bIns="45720" rtlCol="0" anchor="t"/>
          <a:lstStyle/>
          <a:p>
            <a:pPr algn="ctr">
              <a:lnSpc>
                <a:spcPct val="120000"/>
              </a:lnSpc>
            </a:pPr>
            <a:r>
              <a:rPr lang="en-US" sz="9600" b="1" dirty="0">
                <a:solidFill>
                  <a:srgbClr val="000000"/>
                </a:solidFill>
                <a:latin typeface="Microsoft Sans Serif" pitchFamily="34" charset="0"/>
                <a:ea typeface="Microsoft Sans Serif" pitchFamily="34" charset="-122"/>
                <a:cs typeface="Microsoft Sans Serif" pitchFamily="34" charset="-120"/>
              </a:rPr>
              <a:t>THANK YOU</a:t>
            </a:r>
            <a:endParaRPr lang="en-US" sz="1600" dirty="0"/>
          </a:p>
        </p:txBody>
      </p:sp>
      <p:sp>
        <p:nvSpPr>
          <p:cNvPr id="4" name="Shape 1"/>
          <p:cNvSpPr/>
          <p:nvPr/>
        </p:nvSpPr>
        <p:spPr>
          <a:xfrm>
            <a:off x="1788795" y="5076825"/>
            <a:ext cx="153670" cy="153670"/>
          </a:xfrm>
          <a:prstGeom prst="star4">
            <a:avLst>
              <a:gd name="adj" fmla="val 10416"/>
            </a:avLst>
          </a:prstGeom>
          <a:solidFill>
            <a:srgbClr val="FFBB59"/>
          </a:solidFill>
          <a:ln/>
        </p:spPr>
      </p:sp>
      <p:sp>
        <p:nvSpPr>
          <p:cNvPr id="5" name="Text 2"/>
          <p:cNvSpPr/>
          <p:nvPr/>
        </p:nvSpPr>
        <p:spPr>
          <a:xfrm>
            <a:off x="1788795" y="5076825"/>
            <a:ext cx="153670" cy="1536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3"/>
          <p:cNvSpPr/>
          <p:nvPr/>
        </p:nvSpPr>
        <p:spPr>
          <a:xfrm>
            <a:off x="1261745" y="4424680"/>
            <a:ext cx="153670" cy="153670"/>
          </a:xfrm>
          <a:prstGeom prst="star4">
            <a:avLst>
              <a:gd name="adj" fmla="val 10416"/>
            </a:avLst>
          </a:prstGeom>
          <a:solidFill>
            <a:srgbClr val="FFBB59"/>
          </a:solidFill>
          <a:ln/>
        </p:spPr>
      </p:sp>
      <p:sp>
        <p:nvSpPr>
          <p:cNvPr id="7" name="Text 4"/>
          <p:cNvSpPr/>
          <p:nvPr/>
        </p:nvSpPr>
        <p:spPr>
          <a:xfrm>
            <a:off x="1261745" y="4424680"/>
            <a:ext cx="153670" cy="153670"/>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1" descr="https://kimi-img.moonshot.cn/pub/slides/slides_tmpl/image/25-08-27-20:02:53-d2nf7r98bjvh7rlj0800.png"/>
          <p:cNvPicPr>
            <a:picLocks noChangeAspect="1"/>
          </p:cNvPicPr>
          <p:nvPr/>
        </p:nvPicPr>
        <p:blipFill>
          <a:blip r:embed="rId4"/>
          <a:stretch>
            <a:fillRect/>
          </a:stretch>
        </p:blipFill>
        <p:spPr>
          <a:xfrm>
            <a:off x="9655810" y="4407535"/>
            <a:ext cx="1456690" cy="1840865"/>
          </a:xfrm>
          <a:prstGeom prst="rect">
            <a:avLst/>
          </a:prstGeom>
        </p:spPr>
      </p:pic>
      <p:sp>
        <p:nvSpPr>
          <p:cNvPr id="9" name="Shape 5"/>
          <p:cNvSpPr/>
          <p:nvPr/>
        </p:nvSpPr>
        <p:spPr>
          <a:xfrm>
            <a:off x="1610995" y="509270"/>
            <a:ext cx="8639810" cy="0"/>
          </a:xfrm>
          <a:prstGeom prst="line">
            <a:avLst/>
          </a:prstGeom>
          <a:noFill/>
          <a:ln w="15875">
            <a:solidFill>
              <a:srgbClr val="000000"/>
            </a:solidFill>
            <a:prstDash val="sysDot"/>
            <a:headEnd type="none"/>
            <a:tailEnd type="none"/>
          </a:ln>
        </p:spPr>
      </p:sp>
      <p:sp>
        <p:nvSpPr>
          <p:cNvPr id="10" name="Shape 6"/>
          <p:cNvSpPr/>
          <p:nvPr/>
        </p:nvSpPr>
        <p:spPr>
          <a:xfrm>
            <a:off x="2355215" y="6550025"/>
            <a:ext cx="8894445" cy="0"/>
          </a:xfrm>
          <a:prstGeom prst="line">
            <a:avLst/>
          </a:prstGeom>
          <a:noFill/>
          <a:ln w="15875">
            <a:solidFill>
              <a:srgbClr val="000000"/>
            </a:solidFill>
            <a:prstDash val="sysDot"/>
            <a:headEnd type="none"/>
            <a:tailEnd type="none"/>
          </a:ln>
        </p:spPr>
      </p:sp>
      <p:sp>
        <p:nvSpPr>
          <p:cNvPr id="11" name="Shape 7"/>
          <p:cNvSpPr/>
          <p:nvPr/>
        </p:nvSpPr>
        <p:spPr>
          <a:xfrm>
            <a:off x="11774805" y="1237615"/>
            <a:ext cx="0" cy="4104005"/>
          </a:xfrm>
          <a:prstGeom prst="line">
            <a:avLst/>
          </a:prstGeom>
          <a:noFill/>
          <a:ln w="19050">
            <a:solidFill>
              <a:srgbClr val="000000"/>
            </a:solidFill>
            <a:prstDash val="solid"/>
            <a:headEnd type="none"/>
            <a:tailEnd type="none"/>
          </a:ln>
        </p:spPr>
      </p:sp>
      <p:sp>
        <p:nvSpPr>
          <p:cNvPr id="12" name="Shape 8"/>
          <p:cNvSpPr/>
          <p:nvPr/>
        </p:nvSpPr>
        <p:spPr>
          <a:xfrm flipV="1">
            <a:off x="586105" y="2072640"/>
            <a:ext cx="0" cy="4104005"/>
          </a:xfrm>
          <a:prstGeom prst="line">
            <a:avLst/>
          </a:prstGeom>
          <a:noFill/>
          <a:ln w="19050">
            <a:solidFill>
              <a:srgbClr val="000000"/>
            </a:solidFill>
            <a:prstDash val="solid"/>
            <a:headEnd type="none"/>
            <a:tailEnd type="none"/>
          </a:ln>
        </p:spPr>
      </p:sp>
      <p:pic>
        <p:nvPicPr>
          <p:cNvPr id="13" name="Image 2" descr="https://kimi-img.moonshot.cn/pub/slides/slides_tmpl/image/25-08-27-20:02:52-d2nf7r18bjvh7rlj07v0.png"/>
          <p:cNvPicPr>
            <a:picLocks noChangeAspect="1"/>
          </p:cNvPicPr>
          <p:nvPr/>
        </p:nvPicPr>
        <p:blipFill>
          <a:blip r:embed="rId5"/>
          <a:stretch>
            <a:fillRect/>
          </a:stretch>
        </p:blipFill>
        <p:spPr>
          <a:xfrm>
            <a:off x="551180" y="337820"/>
            <a:ext cx="902335" cy="298450"/>
          </a:xfrm>
          <a:prstGeom prst="rect">
            <a:avLst/>
          </a:prstGeom>
        </p:spPr>
      </p:pic>
      <p:pic>
        <p:nvPicPr>
          <p:cNvPr id="14" name="Image 3" descr="https://kimi-img.moonshot.cn/pub/slides/slides_tmpl/image/25-08-27-20:02:52-d2nf7r18bjvh7rlj07ug.png"/>
          <p:cNvPicPr>
            <a:picLocks noChangeAspect="1"/>
          </p:cNvPicPr>
          <p:nvPr/>
        </p:nvPicPr>
        <p:blipFill>
          <a:blip r:embed="rId6"/>
          <a:stretch>
            <a:fillRect/>
          </a:stretch>
        </p:blipFill>
        <p:spPr>
          <a:xfrm>
            <a:off x="10459720" y="354330"/>
            <a:ext cx="1334770" cy="304800"/>
          </a:xfrm>
          <a:prstGeom prst="rect">
            <a:avLst/>
          </a:prstGeom>
        </p:spPr>
      </p:pic>
      <p:pic>
        <p:nvPicPr>
          <p:cNvPr id="15" name="Image 4" descr="https://kimi-img.moonshot.cn/pub/slides/slides_tmpl/image/25-08-27-20:02:53-d2nf7r98bjvh7rlj080g.png"/>
          <p:cNvPicPr>
            <a:picLocks noChangeAspect="1"/>
          </p:cNvPicPr>
          <p:nvPr/>
        </p:nvPicPr>
        <p:blipFill>
          <a:blip r:embed="rId7"/>
          <a:stretch>
            <a:fillRect/>
          </a:stretch>
        </p:blipFill>
        <p:spPr>
          <a:xfrm>
            <a:off x="457200" y="1196340"/>
            <a:ext cx="207010" cy="719455"/>
          </a:xfrm>
          <a:prstGeom prst="rect">
            <a:avLst/>
          </a:prstGeom>
        </p:spPr>
      </p:pic>
      <p:pic>
        <p:nvPicPr>
          <p:cNvPr id="16" name="Image 5" descr="https://kimi-img.moonshot.cn/pub/slides/slides_tmpl/image/25-08-27-20:02:53-d2nf7r98bjvh7rlj080g.png"/>
          <p:cNvPicPr>
            <a:picLocks noChangeAspect="1"/>
          </p:cNvPicPr>
          <p:nvPr/>
        </p:nvPicPr>
        <p:blipFill>
          <a:blip r:embed="rId7"/>
          <a:stretch>
            <a:fillRect/>
          </a:stretch>
        </p:blipFill>
        <p:spPr>
          <a:xfrm>
            <a:off x="11654790" y="5469890"/>
            <a:ext cx="207010" cy="719455"/>
          </a:xfrm>
          <a:prstGeom prst="rect">
            <a:avLst/>
          </a:prstGeom>
        </p:spPr>
      </p:pic>
      <p:pic>
        <p:nvPicPr>
          <p:cNvPr id="17" name="Image 6" descr="https://kimi-img.moonshot.cn/pub/slides/slides_tmpl/image/25-08-27-20:02:52-d2nf7r18bjvh7rlj07ug.png"/>
          <p:cNvPicPr>
            <a:picLocks noChangeAspect="1"/>
          </p:cNvPicPr>
          <p:nvPr/>
        </p:nvPicPr>
        <p:blipFill>
          <a:blip r:embed="rId6"/>
          <a:stretch>
            <a:fillRect/>
          </a:stretch>
        </p:blipFill>
        <p:spPr>
          <a:xfrm>
            <a:off x="771525" y="6377305"/>
            <a:ext cx="1334770" cy="304800"/>
          </a:xfrm>
          <a:prstGeom prst="rect">
            <a:avLst/>
          </a:prstGeom>
        </p:spPr>
      </p:pic>
      <p:pic>
        <p:nvPicPr>
          <p:cNvPr id="18" name="Image 7" descr="https://kimi-img.moonshot.cn/pub/slides/slides_tmpl/image/25-08-27-20:02:53-d2nf7r98bjvh7rlj0820.png"/>
          <p:cNvPicPr>
            <a:picLocks noChangeAspect="1"/>
          </p:cNvPicPr>
          <p:nvPr/>
        </p:nvPicPr>
        <p:blipFill>
          <a:blip r:embed="rId8"/>
          <a:stretch>
            <a:fillRect/>
          </a:stretch>
        </p:blipFill>
        <p:spPr>
          <a:xfrm>
            <a:off x="11474450" y="6356350"/>
            <a:ext cx="353695" cy="298450"/>
          </a:xfrm>
          <a:prstGeom prst="rect">
            <a:avLst/>
          </a:prstGeom>
        </p:spPr>
      </p:pic>
      <p:pic>
        <p:nvPicPr>
          <p:cNvPr id="19" name="Image 8" descr="https://kimi-img.moonshot.cn/pub/slides/slides_tmpl/image/25-08-27-20:02:53-d2nf7r98bjvh7rlj0810.png"/>
          <p:cNvPicPr>
            <a:picLocks noChangeAspect="1"/>
          </p:cNvPicPr>
          <p:nvPr/>
        </p:nvPicPr>
        <p:blipFill>
          <a:blip r:embed="rId9"/>
          <a:stretch>
            <a:fillRect/>
          </a:stretch>
        </p:blipFill>
        <p:spPr>
          <a:xfrm>
            <a:off x="7780020" y="3117215"/>
            <a:ext cx="3242945" cy="1664335"/>
          </a:xfrm>
          <a:prstGeom prst="rect">
            <a:avLst/>
          </a:prstGeom>
        </p:spPr>
      </p:pic>
      <p:sp>
        <p:nvSpPr>
          <p:cNvPr id="20" name="Text 9"/>
          <p:cNvSpPr/>
          <p:nvPr/>
        </p:nvSpPr>
        <p:spPr>
          <a:xfrm>
            <a:off x="3520123" y="5570183"/>
            <a:ext cx="2127103" cy="369332"/>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000000"/>
                </a:solidFill>
                <a:latin typeface="Microsoft Sans Serif" pitchFamily="34" charset="0"/>
                <a:ea typeface="Microsoft Sans Serif" pitchFamily="34" charset="-122"/>
                <a:cs typeface="Microsoft Sans Serif" pitchFamily="34" charset="-120"/>
              </a:rPr>
              <a:t>Sean Wong</a:t>
            </a:r>
            <a:endParaRPr lang="en-US" sz="1600" dirty="0"/>
          </a:p>
        </p:txBody>
      </p:sp>
      <p:sp>
        <p:nvSpPr>
          <p:cNvPr id="21" name="Shape 10"/>
          <p:cNvSpPr/>
          <p:nvPr/>
        </p:nvSpPr>
        <p:spPr>
          <a:xfrm>
            <a:off x="3582262" y="5514103"/>
            <a:ext cx="1945191" cy="457200"/>
          </a:xfrm>
          <a:prstGeom prst="roundRect">
            <a:avLst>
              <a:gd name="adj" fmla="val 50000"/>
            </a:avLst>
          </a:prstGeom>
          <a:solidFill>
            <a:srgbClr val="000000">
              <a:alpha val="0"/>
            </a:srgbClr>
          </a:solidFill>
          <a:ln w="19050">
            <a:solidFill>
              <a:srgbClr val="000000"/>
            </a:solidFill>
            <a:prstDash val="solid"/>
          </a:ln>
        </p:spPr>
        <p:txBody>
          <a:bodyPr/>
          <a:lstStyle/>
          <a:p>
            <a:endParaRPr lang="en-SG" dirty="0"/>
          </a:p>
        </p:txBody>
      </p:sp>
      <p:sp>
        <p:nvSpPr>
          <p:cNvPr id="22" name="Text 11"/>
          <p:cNvSpPr/>
          <p:nvPr/>
        </p:nvSpPr>
        <p:spPr>
          <a:xfrm>
            <a:off x="3610779" y="5517515"/>
            <a:ext cx="1945191" cy="45720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12"/>
          <p:cNvSpPr/>
          <p:nvPr/>
        </p:nvSpPr>
        <p:spPr>
          <a:xfrm>
            <a:off x="6545376" y="5570183"/>
            <a:ext cx="2127103" cy="279598"/>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000000"/>
                </a:solidFill>
                <a:latin typeface="Microsoft Sans Serif" pitchFamily="34" charset="0"/>
                <a:ea typeface="Microsoft Sans Serif" pitchFamily="34" charset="-122"/>
                <a:cs typeface="Microsoft Sans Serif" pitchFamily="34" charset="-120"/>
              </a:rPr>
              <a:t>2025/01/01</a:t>
            </a:r>
            <a:endParaRPr lang="en-US" sz="1600" dirty="0"/>
          </a:p>
        </p:txBody>
      </p:sp>
      <p:sp>
        <p:nvSpPr>
          <p:cNvPr id="24" name="Shape 13"/>
          <p:cNvSpPr/>
          <p:nvPr/>
        </p:nvSpPr>
        <p:spPr>
          <a:xfrm>
            <a:off x="6636031" y="5517515"/>
            <a:ext cx="1945191" cy="457200"/>
          </a:xfrm>
          <a:prstGeom prst="roundRect">
            <a:avLst>
              <a:gd name="adj" fmla="val 50000"/>
            </a:avLst>
          </a:prstGeom>
          <a:solidFill>
            <a:srgbClr val="000000">
              <a:alpha val="0"/>
            </a:srgbClr>
          </a:solidFill>
          <a:ln w="19050">
            <a:solidFill>
              <a:srgbClr val="000000"/>
            </a:solidFill>
            <a:prstDash val="solid"/>
          </a:ln>
        </p:spPr>
      </p:sp>
      <p:sp>
        <p:nvSpPr>
          <p:cNvPr id="25" name="Text 14"/>
          <p:cNvSpPr/>
          <p:nvPr/>
        </p:nvSpPr>
        <p:spPr>
          <a:xfrm>
            <a:off x="6636031" y="5517515"/>
            <a:ext cx="1945191" cy="457200"/>
          </a:xfrm>
          <a:prstGeom prst="rect">
            <a:avLst/>
          </a:prstGeom>
          <a:noFill/>
          <a:ln/>
        </p:spPr>
        <p:txBody>
          <a:bodyPr wrap="square" lIns="45720" tIns="91440" rIns="91440" bIns="45720" rtlCol="0" anchor="ctr"/>
          <a:lstStyle/>
          <a:p>
            <a:pPr>
              <a:lnSpc>
                <a:spcPct val="100000"/>
              </a:lnSpc>
            </a:pP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B0F0"/>
      </a:accent1>
      <a:accent2>
        <a:srgbClr val="92D050"/>
      </a:accent2>
      <a:accent3>
        <a:srgbClr val="FFFF00"/>
      </a:accent3>
      <a:accent4>
        <a:srgbClr val="FFC000"/>
      </a:accent4>
      <a:accent5>
        <a:srgbClr val="7030A0"/>
      </a:accent5>
      <a:accent6>
        <a:srgbClr val="FF9202"/>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1086</Words>
  <Application>Microsoft Office PowerPoint</Application>
  <PresentationFormat>Widescreen</PresentationFormat>
  <Paragraphs>128</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Microsoft Sans Serif</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Unboxed</dc:title>
  <dc:subject>Machine Learning Unboxed</dc:subject>
  <dc:creator>Kimi</dc:creator>
  <cp:lastModifiedBy>Sean</cp:lastModifiedBy>
  <cp:revision>2</cp:revision>
  <dcterms:created xsi:type="dcterms:W3CDTF">2025-12-02T15:43:42Z</dcterms:created>
  <dcterms:modified xsi:type="dcterms:W3CDTF">2025-12-02T15:45:34Z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{"Label":"Machine Learning Unboxed","ContentProducer":"001191110108MACG2KBH8F10000","ProduceID":"d4ngglngt7e6bfhgpj70","ReservedCode1":"","ContentPropagator":"001191110108MACG2KBH8F20000","PropagateID":"d4ngglngt7e6bfhgpj70","ReservedCode2":""}</vt:lpwstr>
  </property>
</Properties>
</file>