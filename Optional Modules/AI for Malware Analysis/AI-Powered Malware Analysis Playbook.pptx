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19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1409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AI-Powered Malware Analysis Playbook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101764" y="0"/>
            <a:ext cx="2916401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01" y="365720"/>
            <a:ext cx="6438900" cy="59436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54405" y="993775"/>
            <a:ext cx="406400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046503" y="179600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Suitability Matrix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475503" y="179600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Classification &amp; Detection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471071" y="3849940"/>
            <a:ext cx="2566966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Static &amp; Dynamic Automation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765604" y="385498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Reverse Engineering Aid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5143871" y="6086695"/>
            <a:ext cx="277847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Threat Hunting &amp; Behavior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8572871" y="6082269"/>
            <a:ext cx="2566967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Reporting &amp; Collaboration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8671" y="0"/>
            <a:ext cx="3190949" cy="6858000"/>
          </a:xfrm>
          <a:custGeom>
            <a:avLst/>
            <a:gdLst/>
            <a:ahLst/>
            <a:cxnLst/>
            <a:rect l="l" t="t" r="r" b="b"/>
            <a:pathLst>
              <a:path w="3190949" h="6858000">
                <a:moveTo>
                  <a:pt x="691463" y="0"/>
                </a:moveTo>
                <a:lnTo>
                  <a:pt x="1833607" y="0"/>
                </a:lnTo>
                <a:lnTo>
                  <a:pt x="1882994" y="47086"/>
                </a:lnTo>
                <a:cubicBezTo>
                  <a:pt x="2691116" y="855208"/>
                  <a:pt x="3190949" y="1971617"/>
                  <a:pt x="3190949" y="3204769"/>
                </a:cubicBezTo>
                <a:cubicBezTo>
                  <a:pt x="3190949" y="4669137"/>
                  <a:pt x="2486106" y="5968880"/>
                  <a:pt x="1397174" y="6783243"/>
                </a:cubicBezTo>
                <a:lnTo>
                  <a:pt x="1292047" y="6858000"/>
                </a:lnTo>
                <a:lnTo>
                  <a:pt x="0" y="6858000"/>
                </a:lnTo>
                <a:lnTo>
                  <a:pt x="163446" y="6793555"/>
                </a:lnTo>
                <a:cubicBezTo>
                  <a:pt x="1540033" y="6211308"/>
                  <a:pt x="2505943" y="4848228"/>
                  <a:pt x="2505943" y="3259548"/>
                </a:cubicBezTo>
                <a:cubicBezTo>
                  <a:pt x="2505943" y="1935648"/>
                  <a:pt x="1835173" y="768415"/>
                  <a:pt x="814946" y="79163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928671" y="0"/>
            <a:ext cx="3190949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828" y="548680"/>
            <a:ext cx="2984500" cy="51054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546805" y="4517175"/>
            <a:ext cx="230230" cy="230243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>
                <a:alpha val="54902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6805" y="4517175"/>
            <a:ext cx="230230" cy="230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5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55370" y="1233805"/>
            <a:ext cx="406400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575529" y="2516631"/>
            <a:ext cx="46164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Learning &amp; Future Outlook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575529" y="5056631"/>
            <a:ext cx="46164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Implementation Roadmap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Suitability Matrix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0" descr="https://kimi-img.moonshot.cn/pub/slides/slides_tmpl/image/25-08-27-20:09:11-d2nfapp8bjvh7rlj0ij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65752" y="832007"/>
            <a:ext cx="2254593" cy="2706833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8-27-20:09:11-d2nfapp8bjvh7rlj0ij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0462" y="832007"/>
            <a:ext cx="2254593" cy="2706833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11-d2nfapp8bjvh7rlj0ik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44745" y="832007"/>
            <a:ext cx="2254250" cy="2706834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11-d2nfapp8bjvh7rlj0il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58685" y="832007"/>
            <a:ext cx="2254250" cy="2706833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solidFill>
            <a:srgbClr val="FFFFFF">
              <a:alpha val="9098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92465" y="4391794"/>
            <a:ext cx="3896724" cy="1949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Mapping Malware Tasks to AI Potential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solidFill>
            <a:srgbClr val="C2F5E1"/>
          </a:solidFill>
          <a:ln/>
        </p:spPr>
      </p:sp>
      <p:sp>
        <p:nvSpPr>
          <p:cNvPr id="14" name="Text 8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707858" y="3623227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Text 10"/>
          <p:cNvSpPr/>
          <p:nvPr/>
        </p:nvSpPr>
        <p:spPr>
          <a:xfrm>
            <a:off x="2237411" y="755209"/>
            <a:ext cx="2831340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Malware Analysis Activities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237105" y="1228090"/>
            <a:ext cx="2679065" cy="1941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matrix evaluates seven core malware analysis activities, including classification, static and dynamic analysis, reverse engineering, threat hunting, reporting, learning, and collaboration.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32963" y="3962809"/>
            <a:ext cx="6482734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Criteria for AI Suitability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69205" y="4277360"/>
            <a:ext cx="634619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Each activity is assessed based on criteria such as repetitiveness, pattern-heavy nature, time consumption, error proneness, documentation load, alert volume, and learning requirements.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004214" y="5309475"/>
            <a:ext cx="648273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Potential Ranking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172075" y="5572760"/>
            <a:ext cx="631444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Activities are ranked by their AI potential, revealing which tasks can benefit the most from AI integration, guiding resource allocation and tool selection.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2455" y="964565"/>
            <a:ext cx="8507730" cy="54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Criteria That Drive AI Adoption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3-d2nfaq98bjvh7rlj0i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3285" y="174942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Decisive Flags for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79160" y="2202815"/>
            <a:ext cx="5843905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Repetitive steps, pattern recognition at scale, chronic alert floods, heavy reporting loads, and error-prone manual steps are the key flags driving AI adoption in malware analysis.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63285" y="409003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High AI Potential Tasks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79160" y="4543425"/>
            <a:ext cx="5843905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When three or more of these criteria coincide, a task is flagged as High AI Potential, guiding prioritization and budget decisions for AI integration.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Classification &amp; Detection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qg.png"/>
          <p:cNvPicPr>
            <a:picLocks noChangeAspect="1"/>
          </p:cNvPicPr>
          <p:nvPr/>
        </p:nvPicPr>
        <p:blipFill>
          <a:blip r:embed="rId3">
            <a:alphaModFix amt="76000"/>
          </a:blip>
          <a:srcRect/>
          <a:stretch/>
        </p:blipFill>
        <p:spPr>
          <a:xfrm>
            <a:off x="3454805" y="1700726"/>
            <a:ext cx="5953563" cy="5157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149" y="749211"/>
            <a:ext cx="6208735" cy="9884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High-Value AI Engines for Malware Sorting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8-27-20:09:12-d2nfaq18bjvh7rlj0i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19" y="1413090"/>
            <a:ext cx="6731000" cy="2819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7968" y="3573775"/>
            <a:ext cx="504056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8" name="Text 4"/>
          <p:cNvSpPr/>
          <p:nvPr/>
        </p:nvSpPr>
        <p:spPr>
          <a:xfrm>
            <a:off x="617425" y="21164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Tools for Malware Classification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0249" y="2454957"/>
            <a:ext cx="5177719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Cylance, CrowdStrike Falcon, VirusTotal Intelligence, and Intezer Analyze are leading AI tools that apply static and behavioral models to classify malware families quickly.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17425" y="42881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Rapid Detection and Triage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249" y="4626657"/>
            <a:ext cx="5177719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These tools can label malware families in milliseconds, significantly reducing triage time and improving detection accuracy, allowing analysts to focus on deeper analysis.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22925" y="19005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Operationalizing AI Scores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5749" y="2239057"/>
            <a:ext cx="5177719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Embed confidence scores from AI engines into SOAR playbooks to automate quarantine, review, and retraining processes, creating a closed-loop learning pipeline.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61025" y="42881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Enhanced Threat Intelligence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3849" y="4626657"/>
            <a:ext cx="5177719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By integrating AI-driven classification, organizations can enhance their threat intelligence capabilities, providing more accurate and timely insights.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3029" y="2857957"/>
            <a:ext cx="7856480" cy="314664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3263029" y="2857957"/>
            <a:ext cx="7856480" cy="314664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815" y="548406"/>
            <a:ext cx="8231218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Operationalizing AI Scores at Scale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7-d2nfaop8bjvh7rlj0i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5392" y="2857957"/>
            <a:ext cx="3582356" cy="31466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46432" y="2852936"/>
            <a:ext cx="690128" cy="559777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4"/>
          <p:cNvSpPr/>
          <p:nvPr/>
        </p:nvSpPr>
        <p:spPr>
          <a:xfrm>
            <a:off x="10446432" y="2852936"/>
            <a:ext cx="690128" cy="5597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632504" y="3140968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4835525" y="3573145"/>
            <a:ext cx="5861050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Closed-Loop Learning Pipeline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35525" y="4335145"/>
            <a:ext cx="5915660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Auto-quarantine high-confidence samples, escalate medium ones for human review, and feed low-confidence false positives back to retrain models, ensuring continuous improvement.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Static &amp; Dynamic Automation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gradFill flip="none" rotWithShape="1">
            <a:gsLst>
              <a:gs pos="0">
                <a:srgbClr val="9DB4E1"/>
              </a:gs>
              <a:gs pos="100000">
                <a:srgbClr val="C2F5E1"/>
              </a:gs>
            </a:gsLst>
            <a:lin ang="4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3905" y="1180673"/>
            <a:ext cx="3956100" cy="1949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Hands-Free Sandbox Pipelines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729" y="1081968"/>
            <a:ext cx="3501871" cy="52610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gradFill flip="none" rotWithShape="1">
            <a:gsLst>
              <a:gs pos="0">
                <a:srgbClr val="C2F5E1"/>
              </a:gs>
              <a:gs pos="28000">
                <a:srgbClr val="C2F5E1"/>
              </a:gs>
              <a:gs pos="100000">
                <a:srgbClr val="9DB4E1"/>
              </a:gs>
            </a:gsLst>
            <a:lin ang="24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3385" y="2907605"/>
            <a:ext cx="648273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AI-Enhanced Sandbox Tools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385" y="3435091"/>
            <a:ext cx="3324607" cy="228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Cuckoo AI plugins, Hybrid Analysis, Joe Sandbox, and VMRay automate sandboxing processes, extracting IOCs, decoding configs, and scoring severity without manual intervention.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21175" y="2902585"/>
            <a:ext cx="3612515" cy="4051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Efficiency Gains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99411" y="3435091"/>
            <a:ext cx="3324607" cy="1952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These tools turn hours of manual runtime into minutes of analyst review, significantly improving operational efficiency and reducing human error.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0-d2nfaph8bjvh7rlj0igg.png"/>
          <p:cNvPicPr>
            <a:picLocks noChangeAspect="1"/>
          </p:cNvPicPr>
          <p:nvPr/>
        </p:nvPicPr>
        <p:blipFill>
          <a:blip r:embed="rId3"/>
          <a:srcRect r="51634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685" y="617855"/>
            <a:ext cx="959993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From Raw Behavior to Prioritized Intel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49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8-27-20:09:10-d2nfaph8bjvh7rlj0i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6780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296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3392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Behavior Clustering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750" y="2405563"/>
            <a:ext cx="338437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AI clusters sandbox artifacts into tactic-based storylines, providing a coherent narrative of malware behavior instead of scattered logs.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1330" y="1609265"/>
            <a:ext cx="3542747" cy="8423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Auto-Correlation of Events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25688" y="2405563"/>
            <a:ext cx="338437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system auto-correlates network, file, and registry events, generating a ranked threat narrative that prioritizes critical alerts.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55340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SIEM Integration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69698" y="2405563"/>
            <a:ext cx="3384373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Push the curated threat narrative to the SIEM, enabling analysts to confront a streamlined timeline of events for faster response.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Reverse Engineering Aid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1225" y="5516880"/>
            <a:ext cx="10132060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ML-Assisted Disassembly Workflows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9416" y="697741"/>
            <a:ext cx="58512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70" y="1102360"/>
            <a:ext cx="4965065" cy="414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Tools for Reverse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9416" y="1578869"/>
            <a:ext cx="525658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Ghidra ML plugins, JEB Decompiler AI, and Binary Ninja ML assist in disassembly by suggesting function names and detecting obfuscation patterns.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3916" y="697741"/>
            <a:ext cx="58512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70" y="1102360"/>
            <a:ext cx="4965065" cy="414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Efficiency Improvements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63916" y="1578869"/>
            <a:ext cx="525658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These tools can cut initial reverse-engineering time by up to forty percent, providing preliminary annotations for faster analysis.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9416" y="2906906"/>
            <a:ext cx="58512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70" y="3311525"/>
            <a:ext cx="5161915" cy="454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Human Override Control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6" y="3716279"/>
            <a:ext cx="525658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Analysts retain control to validate hypotheses, label missed functions, and feed corrections back into the model for continuous improvement.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3916" y="2906906"/>
            <a:ext cx="58512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70" y="3311525"/>
            <a:ext cx="5161915" cy="454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Enhanced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3916" y="3716279"/>
            <a:ext cx="525658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By leveraging AI, reverse engineering becomes more efficient and accurate, enabling deeper insights into malware behavior and potential vulnerabilities.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904" y="406688"/>
            <a:ext cx="5512096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Keeping Humans in the Creative Loop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" name="Text 2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c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408" y="3133931"/>
            <a:ext cx="10840688" cy="315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35955" y="954405"/>
            <a:ext cx="57607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35955" y="1628775"/>
            <a:ext cx="5897245" cy="1330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AI output is treated as preliminary annotations, ensuring that critical reasoning remains in human hands while benefiting from AI-driven insights.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Threat Hunting &amp; Behavior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68" y="3158118"/>
            <a:ext cx="7772400" cy="3184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7375" y="548640"/>
            <a:ext cx="7248525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Source Han Sans SC Bold" pitchFamily="34" charset="0"/>
                <a:ea typeface="Source Han Sans SC Bold" pitchFamily="34" charset="-122"/>
                <a:cs typeface="Source Han Sans SC Bold" pitchFamily="34" charset="-120"/>
              </a:rPr>
              <a:t>AI-Driven Hypothesis Generation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7195" y="2276872"/>
            <a:ext cx="65889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Tools for Threat Hunting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7375" y="2681605"/>
            <a:ext cx="542798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Splunk ML Toolkit, Darktrace, Microsoft Sentinel AI, and Elastic Security use AI to baseline normal behavior and surface statistical outliers.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05165" y="842010"/>
            <a:ext cx="3493135" cy="377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Hypothesis Generation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387" y="1246654"/>
            <a:ext cx="3430797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These tools package outliers as hunt hypotheses, allowing threat hunters to start with evidence-based leads instead of relying solely on intuition.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3933190"/>
            <a:ext cx="3500755" cy="286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Proactive Defense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387" y="4365154"/>
            <a:ext cx="3430797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By leveraging AI-driven hypotheses, organizations can proactively hunt for threats, identifying and mitigating potential attacks before they cause significant damage.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solidFill>
            <a:srgbClr val="000000">
              <a:alpha val="0"/>
            </a:srgbClr>
          </a:solidFill>
          <a:ln w="85725">
            <a:gradFill flip="none" rotWithShape="1">
              <a:gsLst>
                <a:gs pos="0">
                  <a:srgbClr val="C2F5E1"/>
                </a:gs>
                <a:gs pos="20000">
                  <a:srgbClr val="AAC0E5"/>
                </a:gs>
                <a:gs pos="100000">
                  <a:srgbClr val="9DB4E1"/>
                </a:gs>
              </a:gsLst>
              <a:lin ang="7200000" scaled="1"/>
            </a:gra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8-d2nfap18bjvh7rlj0i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73" y="1407713"/>
            <a:ext cx="3092012" cy="46774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2830" y="764540"/>
            <a:ext cx="6449060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Closing the Loop with Feedback Learning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6070" y="2719643"/>
            <a:ext cx="6450272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42815" y="3141980"/>
            <a:ext cx="6713220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Confirmed true positives enrich feature sets, while false positives trigger retraining jobs to refine anomaly thresholds, ensuring the system evolves with adversaries.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06070" y="4444266"/>
            <a:ext cx="6450272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Maintaining Sensitivity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42815" y="4866640"/>
            <a:ext cx="6713220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feedback loop maintains sensitivity to genuine APT tactics, reducing noise and improving the accuracy of threat detection over time.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Reporting &amp; Collaboration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r0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408127" y="2521292"/>
            <a:ext cx="6341541" cy="34730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180" y="492760"/>
            <a:ext cx="6088380" cy="1285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Auto-Generated Intel Reports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8305" y="1774825"/>
            <a:ext cx="5563870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Tools for Reporting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119" y="2097392"/>
            <a:ext cx="542354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Cortex XSOAR, MISP AI plugins, and ThreatConnect automate the generation of executive summaries, IOC extraction, and report distribution.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61810" y="676275"/>
            <a:ext cx="4965065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Efficient Reporting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61810" y="998855"/>
            <a:ext cx="496570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These tools shrink report turnaround time from days to minutes, providing timely and actionable intelligence to stakeholders.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7365" y="2708910"/>
            <a:ext cx="4959350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Risk Communication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61810" y="3049905"/>
            <a:ext cx="496570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Technical findings are translated into risk language, making reports more accessible and actionable for non-technical decision-makers.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7365" y="4645660"/>
            <a:ext cx="5042535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Enhanced Collaboration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61810" y="5039995"/>
            <a:ext cx="496570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By automating reporting, organizations can focus on sharing curated knowledge, enhancing collaboration and collective defense efforts.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8g.png"/>
          <p:cNvPicPr>
            <a:picLocks noChangeAspect="1"/>
          </p:cNvPicPr>
          <p:nvPr/>
        </p:nvPicPr>
        <p:blipFill>
          <a:blip r:embed="rId3">
            <a:alphaModFix amt="72000"/>
          </a:blip>
          <a:srcRect/>
          <a:stretch/>
        </p:blipFill>
        <p:spPr>
          <a:xfrm>
            <a:off x="10395" y="2348881"/>
            <a:ext cx="12181605" cy="450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1693" y="1330960"/>
            <a:ext cx="7524115" cy="2110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Sharing Curated Knowledge at Machine Speed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4774248" y="2984252"/>
            <a:ext cx="2199005" cy="127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975610" y="2204720"/>
            <a:ext cx="5796280" cy="974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Targeted Sharing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5460" y="3354705"/>
            <a:ext cx="8196580" cy="20358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AI recommends which partners need specific IOCs, predicts attribution confidence, and appends mitigation steps, ensuring high-value sharing without overwhelming peers.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Learning &amp; Future Outlook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87" y="0"/>
            <a:ext cx="467201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9768" y="1856646"/>
            <a:ext cx="4118258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as a Personal Training SHERPA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10-d2nfaph8bjvh7rlj0i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57" y="1286340"/>
            <a:ext cx="635000" cy="368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3100" y="3244850"/>
            <a:ext cx="4212590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Tools for Learning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2843" y="3592270"/>
            <a:ext cx="3613829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Intezer Analyze, ReversingLabs AI, and Codex provide guided dissections, explain unfamiliar opcodes, and suggest YARA rules for faster learning.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995" y="1484630"/>
            <a:ext cx="438467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Skill Development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0009" y="1807120"/>
            <a:ext cx="4710824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These tools turn junior analysts into productive hunters by providing structured learning paths and real-time feedback, accelerating skill development.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995" y="3911600"/>
            <a:ext cx="467804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Expert Oversight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10009" y="4233929"/>
            <a:ext cx="471082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Expert-level oversight ensures that critical decisions remain in human hands, maintaining the integrity and accuracy of analysis.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d0.png"/>
          <p:cNvPicPr>
            <a:picLocks noChangeAspect="1"/>
          </p:cNvPicPr>
          <p:nvPr/>
        </p:nvPicPr>
        <p:blipFill>
          <a:blip r:embed="rId3"/>
          <a:srcRect t="35461"/>
          <a:stretch/>
        </p:blipFill>
        <p:spPr>
          <a:xfrm>
            <a:off x="-957580" y="1616075"/>
            <a:ext cx="14110335" cy="5241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435" y="620713"/>
            <a:ext cx="10944225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Emerging Frontiers and Ethical Guardrails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20:09:09-d2nfap98bjvh7rlj0id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1045" y="2195814"/>
            <a:ext cx="2989665" cy="15491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8892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8892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74237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74237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2" descr="https://kimi-img.moonshot.cn/pub/slides/slides_tmpl/image/25-08-27-20:09:09-d2nfap98bjvh7rlj0ie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6337" y="2188285"/>
            <a:ext cx="2613513" cy="1530702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9-d2nfap98bjvh7rlj0ifg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9291" y="2182214"/>
            <a:ext cx="2599731" cy="1522629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9-d2nfap98bjvh7rlj0if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102" y="2199944"/>
            <a:ext cx="2274362" cy="155615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-96688" y="4140646"/>
            <a:ext cx="6482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Future AI Applications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88566" y="4737408"/>
            <a:ext cx="5512227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Expect generative AI to simulate red-team malware variants for proactive defense, enhancing preparedness and resilience against emerging threats.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0084" y="4140646"/>
            <a:ext cx="6482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Ethical Considerations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125338" y="4737408"/>
            <a:ext cx="5512227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Enforce strict validation, audit trails, and human veto rights to prevent misclassification and adversarial poisoning, ensuring ethical and reliable AI use.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526" y="1951672"/>
            <a:ext cx="3780821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Phased Rollout Strategy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8-27-20:09:12-d2nfaq18bjvh7rlj0io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577" y="325045"/>
            <a:ext cx="4174299" cy="62712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24827" y="645525"/>
            <a:ext cx="6084835" cy="5566950"/>
          </a:xfrm>
          <a:prstGeom prst="rect">
            <a:avLst/>
          </a:prstGeom>
          <a:solidFill>
            <a:srgbClr val="0D0D0D">
              <a:alpha val="72941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424827" y="645525"/>
            <a:ext cx="6084835" cy="55669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19575" y="1135628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26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19575" y="1135628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082972" y="1154416"/>
            <a:ext cx="325677" cy="325677"/>
          </a:xfrm>
          <a:prstGeom prst="ellipse">
            <a:avLst/>
          </a:prstGeom>
          <a:solidFill>
            <a:srgbClr val="9DB4E1"/>
          </a:solidFill>
          <a:ln/>
        </p:spPr>
      </p:sp>
      <p:sp>
        <p:nvSpPr>
          <p:cNvPr id="9" name="Text 6"/>
          <p:cNvSpPr/>
          <p:nvPr/>
        </p:nvSpPr>
        <p:spPr>
          <a:xfrm>
            <a:off x="2082972" y="1154416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45351" y="1303561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672141" y="1071726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Initial Phase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72330" y="1471930"/>
            <a:ext cx="582803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Start with high-volume, low-risk tasks such as sandbox scoring and IOC extraction to build confidence and gather initial metrics.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4526" y="3220505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D212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Expansion Phase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4526" y="3620615"/>
            <a:ext cx="3776649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D2123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Expand to alert triage and report generation once metrics improve, demonstrating the value of AI in reducing workload and improving accuracy.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72141" y="2686267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Integration Phase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72330" y="3086100"/>
            <a:ext cx="578231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Integrate assisted reverse engineering and collaborative intel sharing after trust and governance mature, ensuring seamless workflow integration.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72141" y="4372060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72330" y="4772025"/>
            <a:ext cx="5781675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Regularly review KPIs and feedback to identify remaining bottlenecks and areas for improvement, driving continuous evolution of AI adoption.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20" y="13704"/>
            <a:ext cx="9311680" cy="6858000"/>
          </a:xfrm>
          <a:prstGeom prst="rect">
            <a:avLst/>
          </a:prstGeom>
          <a:solidFill>
            <a:srgbClr val="F2F3F6"/>
          </a:solidFill>
          <a:ln/>
        </p:spPr>
      </p:sp>
      <p:sp>
        <p:nvSpPr>
          <p:cNvPr id="3" name="Text 1"/>
          <p:cNvSpPr/>
          <p:nvPr/>
        </p:nvSpPr>
        <p:spPr>
          <a:xfrm>
            <a:off x="2880320" y="13704"/>
            <a:ext cx="931168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7-d2nfaop8bjvh7rlj0ia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131784"/>
            <a:ext cx="3952387" cy="526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068" y="4959623"/>
            <a:ext cx="1775520" cy="144016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6" name="Text 3"/>
          <p:cNvSpPr/>
          <p:nvPr/>
        </p:nvSpPr>
        <p:spPr>
          <a:xfrm>
            <a:off x="612068" y="4959623"/>
            <a:ext cx="1775520" cy="1440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62885" y="211455"/>
            <a:ext cx="7725410" cy="26911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Measuring Success and Next Steps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488488" y="1131784"/>
            <a:ext cx="1008112" cy="89907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9" name="Text 6"/>
          <p:cNvSpPr/>
          <p:nvPr/>
        </p:nvSpPr>
        <p:spPr>
          <a:xfrm>
            <a:off x="10488488" y="1131784"/>
            <a:ext cx="1008112" cy="899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848528" y="1556792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5863590" y="2647950"/>
            <a:ext cx="5720080" cy="54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9DB4E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63590" y="3573145"/>
            <a:ext cx="5720080" cy="14583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Track mean-time-to-detect, analyst hours saved per sample, false-positive rate, and report turnaround to measure the impact of AI integration and guide future steps.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Microsoft Office PowerPoint</Application>
  <PresentationFormat>Widescreen</PresentationFormat>
  <Paragraphs>151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Source Han Sans SC</vt:lpstr>
      <vt:lpstr>Source Han Sans SC Bold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Malware Analysis Playbook</dc:title>
  <dc:subject>AI-Powered Malware Analysis Playbook</dc:subject>
  <dc:creator>Kimi</dc:creator>
  <cp:lastModifiedBy>Sean</cp:lastModifiedBy>
  <cp:revision>2</cp:revision>
  <dcterms:created xsi:type="dcterms:W3CDTF">2025-12-03T03:22:59Z</dcterms:created>
  <dcterms:modified xsi:type="dcterms:W3CDTF">2025-12-03T03:24:56Z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{"Label":"AI-Powered Malware Analysis Playbook","ContentProducer":"001191110108MACG2KBH8F10000","ProduceID":"d4nqoj88obdcokoo3oag","ReservedCode1":"","ContentPropagator":"001191110108MACG2KBH8F20000","PropagateID":"d4nqoj88obdcokoo3oag","ReservedCode2":""}</vt:lpwstr>
  </property>
</Properties>
</file>